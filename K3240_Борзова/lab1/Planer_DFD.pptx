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40F9F14-BAEB-B600-FB0A-C50C55D5795B}">
          <p14:sldIdLst>
            <p14:sldId id="256"/>
            <p14:sldId id="257"/>
            <p14:sldId id="258"/>
            <p14:sldId id="259"/>
            <p14:sldId id="260"/>
          </p14:sldIdLst>
        </p14:section>
        <p14:section name="Ход работы" id="{3887770B-3EB3-118E-5FA8-8DC81E5C3208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Итоги" id="{C6BE2911-6CEC-1C95-F71E-9FDFF901663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45" autoAdjust="0"/>
  </p:normalViewPr>
  <p:slideViewPr>
    <p:cSldViewPr snapToGrid="0" snapToObjects="1">
      <p:cViewPr>
        <p:scale>
          <a:sx n="75" d="100"/>
          <a:sy n="75" d="100"/>
        </p:scale>
        <p:origin x="965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72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Дарья Борзова, группа К3240. Команда «Декомпозиция», вариант 5. Тема проекта — проектирование функциональной модели автоматизированной информационной </a:t>
            </a:r>
            <a:r>
              <a:rPr lang="en-US"/>
              <a:t>системы «</a:t>
            </a:r>
            <a:r>
              <a:rPr lang="ru-RU"/>
              <a:t>Планер</a:t>
            </a:r>
            <a:r>
              <a:rPr lang="en-US"/>
              <a:t>», </a:t>
            </a:r>
            <a:r>
              <a:rPr lang="en-US" dirty="0"/>
              <a:t>которая помогает вожатым планировать работу в детском лагере, а администрации — контролировать её. Название АИС и фирмы придуманы в рамках задания. Преподаватель — Говорова Марина Михайловна.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Предметная область — организация досуга детей на смене. Сначала администрация заполняет часть план-сетки: распорядок дня и общелагерные мероприятия. В оставшихся промежутках вожатые планируют мероприятия своего отряда, подбирая их под возраст детей и обстоятельства смены. После проведения сохраняются факт, участники и отзывы, а администрация получает отчёты. Все вожатые работают в общем поле планирования, но каждый меняет только план своего отряда, поэтому система должна находить конфликты — например, когда два отряда планируют одно место в одно время. Дополнительно система помогает распределить выходные вожатых и вести учёт детей.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описания варианта следуют три проблемы. Первая: в лагере параллельно существует несколько план-сеток, и вожатые могут запланировать одно место на одно время. Вторая: мероприятия нужно подбирать под возраст детей и обстоятельства смены, и ошибки в такой оценке трудно заметить заранее. Третья: администрации сложно следить за планами отрядов и работой вожатых. Пользователи системы — администрация и вожатые; дети и родители участвуют через обратную связь и данные о ребёнке.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спроектировать функциональную модель </a:t>
            </a:r>
            <a:r>
              <a:rPr lang="en-US"/>
              <a:t>АИС «</a:t>
            </a:r>
            <a:r>
              <a:rPr lang="ru-RU"/>
              <a:t>Планер</a:t>
            </a:r>
            <a:r>
              <a:rPr lang="en-US"/>
              <a:t>». </a:t>
            </a:r>
            <a:r>
              <a:rPr lang="en-US" dirty="0"/>
              <a:t>Задачи соответствуют этапам анализа функционального поведения системы, а справа указано, на каких слайдах каждая из них раскрыта: назначение ИС, основной процесс и внешние сущности, потоки, контекстная диаграмма A-0, матрица событий, диаграмма A0 и детализация процесса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анализа использована методология DFD — диаграммы потоков данных. Модель строится иерархически: контекстная диаграмма A-0, затем декомпозиция A0 и детализация одного процесса. Диаграммы выполнены в Visual Paradigm Online — это аналог CA ERwin Process Modeler, который указан в задании. При построении я придерживалась основных правил DFD: от двух до шести процессов на диаграмме, имена процессов — глаголы, у каждого хранилища есть вход и выход, а между внешними сущностями нет связей.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Назначение системы — централизованно организовать досуг детей на смене: помочь вожатым составлять план, проверять его на ошибки и конфликты, фиксировать фактическое проведение мероприятий, управлять графиками и формировать отчёты. Основной процесс — «Систематизировать планирование работы вожатого». С ним взаимодействуют четыре внешние сущности: администрация лагеря задаёт условия и получает отчёты; вожатый планирует и вводит данные; ребёнок получает расписание и оставляет отзыв; родитель или представитель передаёт сведения о ребёнке и обратную связь.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каждой внешней сущности определены потоки данных. Администрация передаёт в систему условия планирования и запросы на отчёты, а получает плановые данные с предупреждениями, рабочие графики и отчёты. Вожатый передаёт данные об отряде, мероприятиях, фактическом проведении и графике, а получает рекомендации и рабочий график. Ребёнок получает расписание и запрос на отзыв, отправляет отзыв. Родитель получает запрос на обратную связь, а передаёт обратную связь и данные об особенностях ребёнка. Всего получилось 17 потоков: 8 входных в систему и 9 выходных.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контекстная диаграмма нулевого уровня. Вся система показана одним процессом A-0 «Систематизировать планирование работы вожатого». Вокруг — четыре внешние сущности: администрация, вожатый, ребёнок и родитель. Между ними и системой 17 потоков данных. Внутреннее устройство системы на этом уровне скрыто — оно раскрывается на диаграмме A0.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списка событий связывает события предметной области с реакцией системы. Для каждого события указан источник, процесс, который на него реагирует, и результат — хранилище или поток данных. Например, когда вожатый планирует мероприятия, процесс A2 обновляет план в хранилище D2 и отправляет расписание ребёнку; после этого процесс A3 проверяет план и возвращает предупреждения и рекомендации. Событие «мероприятие проведено или отменено» обрабатывает процесс A4 и сохраняет данные в D3. Запрос отчётов перед планёркой обрабатывает процесс A5.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коротко перечислены процессы </a:t>
            </a:r>
            <a:r>
              <a:rPr lang="en-US"/>
              <a:t>и </a:t>
            </a:r>
            <a:r>
              <a:rPr lang="ru-RU"/>
              <a:t>хранилища</a:t>
            </a:r>
            <a:r>
              <a:rPr lang="en-US"/>
              <a:t> </a:t>
            </a:r>
            <a:r>
              <a:rPr lang="en-US" dirty="0"/>
              <a:t>данных уровня A0. Имена процессов — глаголы, как требуют правила DFD. У каждого накопителя есть процесс, который его наполняет, и процесс, который из него читает: например, план мероприятий D2 наполняют A2 и A3, а читают A2, A3 и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Диаграмма A0 — декомпозиция процесса A-0. Здесь шесть процессов: вести данные об отрядах и детях, формировать план мероприятий, контролировать планирование и согласовывать мероприятия, учитывать фактическое проведение, формировать отчёты и управлять рабочими графиками. Пять хранилищ: данные об отрядах и детях, план мероприятий, данные о проведении, отчёты и сведения, рабочие графики. Внешние потоки те же, что на A-0, — декомпозиция их сохраняет. Важный момент — цикл между A2 и A3: A3 проверяет план и возвращает предупреждения и рекомендации, A2 дорабатывает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третий уровень модели — детализация процесса A2. Он состоит из четырёх подпроцессов: подготовить данные для планирования, сформировать мероприятия, составить план и сохранить план в хранилище. Все входы и выходы процесса A2 с диаграммы A0 сохранены: данные от администрации, вожатого и процесса A1, предупреждения от A3, данные плана из D2, а на выходе — сформированный план для A3, данные для отчётов A5, расписание для ребёнка и обновлённый план в D2. На дочерней диаграмме поток от A3 уточнён: он называется «Предупреждения и рекомендации по планированию».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построения диаграмм я проверила модель по основным правилам DFD. На диаграммах от двух до шести процессов; имена процессов — глаголы; нет связей между внешними сущностями; у каждого хранилища есть вход и выход; изолированных объектов нет; потоки согласованы между уровнями A-0, A0 и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 Цель достигнута: построена функциональная модель </a:t>
            </a:r>
            <a:r>
              <a:rPr lang="en-US"/>
              <a:t>АИС «</a:t>
            </a:r>
            <a:r>
              <a:rPr lang="ru-RU"/>
              <a:t>Планер</a:t>
            </a:r>
            <a:r>
              <a:rPr lang="en-US"/>
              <a:t>» </a:t>
            </a:r>
            <a:r>
              <a:rPr lang="en-US" dirty="0"/>
              <a:t>в нотации DFD на трёх уровнях. Модель охватывает все функции из описания варианта. Определены внешние сущности, потоки и события. Отдельный процесс контроля планирования позволяет проверять план на ошибки и конфликты независимо от его составления. Полученная модель станет основой для следующего этапа — проектирования структуры данных и интерфейсов.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Готова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0"/>
            <a:ext cx="4967935" cy="685800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347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chemeClr val="accent5"/>
                </a:solidFill>
              </a:rPr>
              <a:t>Планер</a:t>
            </a:r>
            <a:r>
              <a:rPr lang="en-US" sz="1100" dirty="0">
                <a:solidFill>
                  <a:schemeClr val="accent5"/>
                </a:solidFill>
              </a:rPr>
              <a:t> · команда «Декомпозиция»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9098280" y="822960"/>
            <a:ext cx="2834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347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dirty="0">
                <a:solidFill>
                  <a:schemeClr val="tx1"/>
                </a:solidFill>
              </a:rPr>
              <a:t>Планер</a:t>
            </a:r>
            <a:r>
              <a:rPr lang="en-US" sz="1100" dirty="0">
                <a:solidFill>
                  <a:schemeClr val="tx1"/>
                </a:solidFill>
              </a:rPr>
              <a:t> · команда «Декомпозиция»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ИТМО" descr="Логотип Университета ИТМ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377440" cy="890865"/>
          </a:xfrm>
          <a:prstGeom prst="rect">
            <a:avLst/>
          </a:prstGeom>
        </p:spPr>
      </p:pic>
      <p:sp>
        <p:nvSpPr>
          <p:cNvPr id="3" name="Метка Проект · вариант 5"/>
          <p:cNvSpPr/>
          <p:nvPr/>
        </p:nvSpPr>
        <p:spPr>
          <a:xfrm>
            <a:off x="640080" y="1920240"/>
            <a:ext cx="223113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Метка текст"/>
          <p:cNvSpPr txBox="1"/>
          <p:nvPr/>
        </p:nvSpPr>
        <p:spPr>
          <a:xfrm>
            <a:off x="640080" y="19202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Проект · вариант 5</a:t>
            </a:r>
            <a:endParaRPr lang="en-US" sz="1200" dirty="0"/>
          </a:p>
        </p:txBody>
      </p:sp>
      <p:sp>
        <p:nvSpPr>
          <p:cNvPr id="5" name="Тема работы"/>
          <p:cNvSpPr txBox="1"/>
          <p:nvPr/>
        </p:nvSpPr>
        <p:spPr>
          <a:xfrm>
            <a:off x="640080" y="237744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Проектирование функциональной модели АИС «</a:t>
            </a:r>
            <a:r>
              <a:rPr lang="ru-RU" sz="2800" b="1" dirty="0">
                <a:solidFill>
                  <a:schemeClr val="tx1"/>
                </a:solidFill>
              </a:rPr>
              <a:t>Планер</a:t>
            </a:r>
            <a:r>
              <a:rPr lang="en-US" sz="2800" b="1" dirty="0">
                <a:solidFill>
                  <a:schemeClr val="tx1"/>
                </a:solidFill>
              </a:rPr>
              <a:t>» для планирования работы вожатого</a:t>
            </a:r>
            <a:endParaRPr lang="en-US" sz="2800" dirty="0"/>
          </a:p>
        </p:txBody>
      </p:sp>
      <p:sp>
        <p:nvSpPr>
          <p:cNvPr id="6" name="Фирма"/>
          <p:cNvSpPr txBox="1"/>
          <p:nvPr/>
        </p:nvSpPr>
        <p:spPr>
          <a:xfrm>
            <a:off x="640080" y="4526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Фирма «Декомпозиция»</a:t>
            </a:r>
            <a:endParaRPr lang="en-US" sz="1800" dirty="0"/>
          </a:p>
        </p:txBody>
      </p:sp>
      <p:sp>
        <p:nvSpPr>
          <p:cNvPr id="7" name="Карточка авторов"/>
          <p:cNvSpPr/>
          <p:nvPr/>
        </p:nvSpPr>
        <p:spPr>
          <a:xfrm>
            <a:off x="640080" y="5029200"/>
            <a:ext cx="6126480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8" name="Авторы"/>
          <p:cNvSpPr txBox="1"/>
          <p:nvPr/>
        </p:nvSpPr>
        <p:spPr>
          <a:xfrm>
            <a:off x="868680" y="5029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Автор: </a:t>
            </a:r>
            <a:r>
              <a:rPr lang="en-US" sz="1500" dirty="0">
                <a:solidFill>
                  <a:schemeClr val="tx1"/>
                </a:solidFill>
              </a:rPr>
              <a:t>Борзова Дарья Максимовна, группа К3240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Преподаватель: </a:t>
            </a:r>
            <a:r>
              <a:rPr lang="en-US" sz="1500" dirty="0">
                <a:solidFill>
                  <a:schemeClr val="tx1"/>
                </a:solidFill>
              </a:rPr>
              <a:t>Говорова Марина Михайловна</a:t>
            </a:r>
            <a:endParaRPr lang="en-US" sz="1500" dirty="0"/>
          </a:p>
        </p:txBody>
      </p:sp>
      <p:sp>
        <p:nvSpPr>
          <p:cNvPr id="9" name="Университет и год"/>
          <p:cNvSpPr txBox="1"/>
          <p:nvPr/>
        </p:nvSpPr>
        <p:spPr>
          <a:xfrm>
            <a:off x="640080" y="6309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Университет ИТМО · 2026</a:t>
            </a:r>
            <a:endParaRPr lang="en-US" sz="1200" dirty="0"/>
          </a:p>
        </p:txBody>
      </p:sp>
      <p:sp>
        <p:nvSpPr>
          <p:cNvPr id="10" name="A-0"/>
          <p:cNvSpPr/>
          <p:nvPr/>
        </p:nvSpPr>
        <p:spPr>
          <a:xfrm>
            <a:off x="8503920" y="2880360"/>
            <a:ext cx="2377440" cy="109728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A-0 текст"/>
          <p:cNvSpPr txBox="1"/>
          <p:nvPr/>
        </p:nvSpPr>
        <p:spPr>
          <a:xfrm>
            <a:off x="8503920" y="2880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A-0</a:t>
            </a:r>
            <a:endParaRPr lang="en-US" sz="3000" dirty="0"/>
          </a:p>
        </p:txBody>
      </p:sp>
      <p:sp>
        <p:nvSpPr>
          <p:cNvPr id="12" name="Связь 1"/>
          <p:cNvSpPr/>
          <p:nvPr/>
        </p:nvSpPr>
        <p:spPr>
          <a:xfrm>
            <a:off x="8549640" y="1828800"/>
            <a:ext cx="41148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Связь 2"/>
          <p:cNvSpPr/>
          <p:nvPr/>
        </p:nvSpPr>
        <p:spPr>
          <a:xfrm flipH="1">
            <a:off x="10424160" y="1828800"/>
            <a:ext cx="41148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Связь 3"/>
          <p:cNvSpPr/>
          <p:nvPr/>
        </p:nvSpPr>
        <p:spPr>
          <a:xfrm flipV="1">
            <a:off x="8549640" y="3977640"/>
            <a:ext cx="41148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Связь 4"/>
          <p:cNvSpPr/>
          <p:nvPr/>
        </p:nvSpPr>
        <p:spPr>
          <a:xfrm>
            <a:off x="10424160" y="3977640"/>
            <a:ext cx="41148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Сущность 1"/>
          <p:cNvSpPr/>
          <p:nvPr/>
        </p:nvSpPr>
        <p:spPr>
          <a:xfrm>
            <a:off x="7498080" y="118872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Сущность 1 текст"/>
          <p:cNvSpPr txBox="1"/>
          <p:nvPr/>
        </p:nvSpPr>
        <p:spPr>
          <a:xfrm>
            <a:off x="7498080" y="1188720"/>
            <a:ext cx="210312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Администрация</a:t>
            </a:r>
            <a:endParaRPr lang="en-US" sz="1400" dirty="0"/>
          </a:p>
        </p:txBody>
      </p:sp>
      <p:sp>
        <p:nvSpPr>
          <p:cNvPr id="18" name="Сущность 2"/>
          <p:cNvSpPr/>
          <p:nvPr/>
        </p:nvSpPr>
        <p:spPr>
          <a:xfrm>
            <a:off x="9875520" y="118872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Сущность 2 текст"/>
          <p:cNvSpPr txBox="1"/>
          <p:nvPr/>
        </p:nvSpPr>
        <p:spPr>
          <a:xfrm>
            <a:off x="9875520" y="1188720"/>
            <a:ext cx="19202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Вожатый</a:t>
            </a:r>
            <a:endParaRPr lang="en-US" sz="1400" dirty="0"/>
          </a:p>
        </p:txBody>
      </p:sp>
      <p:sp>
        <p:nvSpPr>
          <p:cNvPr id="20" name="Сущность 3"/>
          <p:cNvSpPr/>
          <p:nvPr/>
        </p:nvSpPr>
        <p:spPr>
          <a:xfrm>
            <a:off x="7498080" y="502920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Сущность 3 текст"/>
          <p:cNvSpPr txBox="1"/>
          <p:nvPr/>
        </p:nvSpPr>
        <p:spPr>
          <a:xfrm>
            <a:off x="7498080" y="5029200"/>
            <a:ext cx="210312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Ребёнок</a:t>
            </a:r>
            <a:endParaRPr lang="en-US" sz="1400" dirty="0"/>
          </a:p>
        </p:txBody>
      </p:sp>
      <p:sp>
        <p:nvSpPr>
          <p:cNvPr id="22" name="Сущность 4"/>
          <p:cNvSpPr/>
          <p:nvPr/>
        </p:nvSpPr>
        <p:spPr>
          <a:xfrm>
            <a:off x="9875520" y="502920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Сущность 4 текст"/>
          <p:cNvSpPr txBox="1"/>
          <p:nvPr/>
        </p:nvSpPr>
        <p:spPr>
          <a:xfrm>
            <a:off x="9875520" y="5029200"/>
            <a:ext cx="1920240" cy="6400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Родитель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Предметная область"/>
          <p:cNvSpPr/>
          <p:nvPr/>
        </p:nvSpPr>
        <p:spPr>
          <a:xfrm>
            <a:off x="548640" y="347472"/>
            <a:ext cx="223113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Предметная область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Как устроено планирование смены в лагере</a:t>
            </a:r>
            <a:endParaRPr lang="en-US" sz="2800" dirty="0"/>
          </a:p>
        </p:txBody>
      </p:sp>
      <p:sp>
        <p:nvSpPr>
          <p:cNvPr id="5" name="Этап цепочки 1"/>
          <p:cNvSpPr/>
          <p:nvPr/>
        </p:nvSpPr>
        <p:spPr>
          <a:xfrm>
            <a:off x="548640" y="1691640"/>
            <a:ext cx="192024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Этап цепочки текст 1"/>
          <p:cNvSpPr txBox="1"/>
          <p:nvPr/>
        </p:nvSpPr>
        <p:spPr>
          <a:xfrm>
            <a:off x="64008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Распорядок смены</a:t>
            </a:r>
            <a:endParaRPr lang="en-US" sz="1400" dirty="0"/>
          </a:p>
        </p:txBody>
      </p:sp>
      <p:sp>
        <p:nvSpPr>
          <p:cNvPr id="7" name="Стрелка 1"/>
          <p:cNvSpPr txBox="1"/>
          <p:nvPr/>
        </p:nvSpPr>
        <p:spPr>
          <a:xfrm>
            <a:off x="2468880" y="1691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Этап цепочки 2"/>
          <p:cNvSpPr/>
          <p:nvPr/>
        </p:nvSpPr>
        <p:spPr>
          <a:xfrm>
            <a:off x="2834640" y="1691640"/>
            <a:ext cx="192024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Этап цепочки текст 2"/>
          <p:cNvSpPr txBox="1"/>
          <p:nvPr/>
        </p:nvSpPr>
        <p:spPr>
          <a:xfrm>
            <a:off x="292608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Пробелы в план-сетке</a:t>
            </a:r>
            <a:endParaRPr lang="en-US" sz="1400" dirty="0"/>
          </a:p>
        </p:txBody>
      </p:sp>
      <p:sp>
        <p:nvSpPr>
          <p:cNvPr id="10" name="Стрелка 2"/>
          <p:cNvSpPr txBox="1"/>
          <p:nvPr/>
        </p:nvSpPr>
        <p:spPr>
          <a:xfrm>
            <a:off x="4754880" y="1691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Этап цепочки 3"/>
          <p:cNvSpPr/>
          <p:nvPr/>
        </p:nvSpPr>
        <p:spPr>
          <a:xfrm>
            <a:off x="5120640" y="1691640"/>
            <a:ext cx="192024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Этап цепочки текст 3"/>
          <p:cNvSpPr txBox="1"/>
          <p:nvPr/>
        </p:nvSpPr>
        <p:spPr>
          <a:xfrm>
            <a:off x="521208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Планирование вожатыми</a:t>
            </a:r>
            <a:endParaRPr lang="en-US" sz="1400" dirty="0"/>
          </a:p>
        </p:txBody>
      </p:sp>
      <p:sp>
        <p:nvSpPr>
          <p:cNvPr id="13" name="Стрелка 3"/>
          <p:cNvSpPr txBox="1"/>
          <p:nvPr/>
        </p:nvSpPr>
        <p:spPr>
          <a:xfrm>
            <a:off x="7040880" y="1691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Этап цепочки 4"/>
          <p:cNvSpPr/>
          <p:nvPr/>
        </p:nvSpPr>
        <p:spPr>
          <a:xfrm>
            <a:off x="7406640" y="1691640"/>
            <a:ext cx="192024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5" name="Этап цепочки текст 4"/>
          <p:cNvSpPr txBox="1"/>
          <p:nvPr/>
        </p:nvSpPr>
        <p:spPr>
          <a:xfrm>
            <a:off x="749808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Проведение мероприятий</a:t>
            </a:r>
            <a:endParaRPr lang="en-US" sz="1400" dirty="0"/>
          </a:p>
        </p:txBody>
      </p:sp>
      <p:sp>
        <p:nvSpPr>
          <p:cNvPr id="16" name="Стрелка 4"/>
          <p:cNvSpPr txBox="1"/>
          <p:nvPr/>
        </p:nvSpPr>
        <p:spPr>
          <a:xfrm>
            <a:off x="9326880" y="1691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Этап цепочки 5"/>
          <p:cNvSpPr/>
          <p:nvPr/>
        </p:nvSpPr>
        <p:spPr>
          <a:xfrm>
            <a:off x="9692640" y="1691640"/>
            <a:ext cx="1920240" cy="73152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Этап цепочки текст 5"/>
          <p:cNvSpPr txBox="1"/>
          <p:nvPr/>
        </p:nvSpPr>
        <p:spPr>
          <a:xfrm>
            <a:off x="978408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Отзывы и отчёты</a:t>
            </a:r>
            <a:endParaRPr lang="en-US" sz="1400" dirty="0"/>
          </a:p>
        </p:txBody>
      </p:sp>
      <p:sp>
        <p:nvSpPr>
          <p:cNvPr id="19" name="Карточка 1"/>
          <p:cNvSpPr/>
          <p:nvPr/>
        </p:nvSpPr>
        <p:spPr>
          <a:xfrm>
            <a:off x="548640" y="2788920"/>
            <a:ext cx="5440680" cy="1645920"/>
          </a:xfrm>
          <a:prstGeom prst="roundRect">
            <a:avLst>
              <a:gd name="adj" fmla="val 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0" name="Заголовок 1"/>
          <p:cNvSpPr txBox="1"/>
          <p:nvPr/>
        </p:nvSpPr>
        <p:spPr>
          <a:xfrm>
            <a:off x="822960" y="2971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Общее поле, свои план-сетки</a:t>
            </a:r>
            <a:endParaRPr lang="en-US" sz="1800" dirty="0"/>
          </a:p>
        </p:txBody>
      </p:sp>
      <p:sp>
        <p:nvSpPr>
          <p:cNvPr id="21" name="Описание 1"/>
          <p:cNvSpPr txBox="1"/>
          <p:nvPr/>
        </p:nvSpPr>
        <p:spPr>
          <a:xfrm>
            <a:off x="822960" y="3429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Все вожатые работают в общем поле планирования, но каждый меняет только план своего отряда</a:t>
            </a:r>
            <a:endParaRPr lang="en-US" sz="1500" dirty="0"/>
          </a:p>
        </p:txBody>
      </p:sp>
      <p:sp>
        <p:nvSpPr>
          <p:cNvPr id="22" name="Карточка 2"/>
          <p:cNvSpPr/>
          <p:nvPr/>
        </p:nvSpPr>
        <p:spPr>
          <a:xfrm>
            <a:off x="6172200" y="2788920"/>
            <a:ext cx="5440680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Заголовок 2"/>
          <p:cNvSpPr txBox="1"/>
          <p:nvPr/>
        </p:nvSpPr>
        <p:spPr>
          <a:xfrm>
            <a:off x="6446520" y="2971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Подбор мероприятий</a:t>
            </a:r>
            <a:endParaRPr lang="en-US" sz="1800" dirty="0"/>
          </a:p>
        </p:txBody>
      </p:sp>
      <p:sp>
        <p:nvSpPr>
          <p:cNvPr id="24" name="Описание 2"/>
          <p:cNvSpPr txBox="1"/>
          <p:nvPr/>
        </p:nvSpPr>
        <p:spPr>
          <a:xfrm>
            <a:off x="6446520" y="34290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Возраст детей и обстоятельства смены задают время, место, реквизит, тему и цель мероприятия</a:t>
            </a:r>
            <a:endParaRPr lang="en-US" sz="1500" dirty="0"/>
          </a:p>
        </p:txBody>
      </p:sp>
      <p:sp>
        <p:nvSpPr>
          <p:cNvPr id="25" name="Карточка 3"/>
          <p:cNvSpPr/>
          <p:nvPr/>
        </p:nvSpPr>
        <p:spPr>
          <a:xfrm>
            <a:off x="548640" y="4617720"/>
            <a:ext cx="5440680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6" name="Заголовок 3"/>
          <p:cNvSpPr txBox="1"/>
          <p:nvPr/>
        </p:nvSpPr>
        <p:spPr>
          <a:xfrm>
            <a:off x="82296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Контроль и факт проведения</a:t>
            </a:r>
            <a:endParaRPr lang="en-US" sz="1800" dirty="0"/>
          </a:p>
        </p:txBody>
      </p:sp>
      <p:sp>
        <p:nvSpPr>
          <p:cNvPr id="27" name="Описание 3"/>
          <p:cNvSpPr txBox="1"/>
          <p:nvPr/>
        </p:nvSpPr>
        <p:spPr>
          <a:xfrm>
            <a:off x="822960" y="5257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Система находит конфликты по месту и времени; после мероприятия сохраняет статус, участников и отзывы</a:t>
            </a:r>
            <a:endParaRPr lang="en-US" sz="1500" dirty="0"/>
          </a:p>
        </p:txBody>
      </p:sp>
      <p:sp>
        <p:nvSpPr>
          <p:cNvPr id="28" name="Карточка 4"/>
          <p:cNvSpPr/>
          <p:nvPr/>
        </p:nvSpPr>
        <p:spPr>
          <a:xfrm>
            <a:off x="6172200" y="4617720"/>
            <a:ext cx="5440680" cy="1645920"/>
          </a:xfrm>
          <a:prstGeom prst="roundRect">
            <a:avLst>
              <a:gd name="adj" fmla="val 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9" name="Заголовок 4"/>
          <p:cNvSpPr txBox="1"/>
          <p:nvPr/>
        </p:nvSpPr>
        <p:spPr>
          <a:xfrm>
            <a:off x="644652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График, контингент, отчёты</a:t>
            </a:r>
            <a:endParaRPr lang="en-US" sz="1800" dirty="0"/>
          </a:p>
        </p:txBody>
      </p:sp>
      <p:sp>
        <p:nvSpPr>
          <p:cNvPr id="30" name="Описание 4"/>
          <p:cNvSpPr txBox="1"/>
          <p:nvPr/>
        </p:nvSpPr>
        <p:spPr>
          <a:xfrm>
            <a:off x="6446520" y="5257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Выходные вожатых, учёт детей по отрядам и сводки для администрации перед планёркой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Предметная область"/>
          <p:cNvSpPr/>
          <p:nvPr/>
        </p:nvSpPr>
        <p:spPr>
          <a:xfrm>
            <a:off x="548640" y="347472"/>
            <a:ext cx="223113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Предметная область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Проблемы и пользователи системы</a:t>
            </a:r>
            <a:endParaRPr lang="en-US" sz="2800" dirty="0"/>
          </a:p>
        </p:txBody>
      </p:sp>
      <p:sp>
        <p:nvSpPr>
          <p:cNvPr id="5" name="Проблема 1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5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Номер проблемы 1"/>
          <p:cNvSpPr txBox="1"/>
          <p:nvPr/>
        </p:nvSpPr>
        <p:spPr>
          <a:xfrm>
            <a:off x="82296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7" name="Проблема текст 1"/>
          <p:cNvSpPr txBox="1"/>
          <p:nvPr/>
        </p:nvSpPr>
        <p:spPr>
          <a:xfrm>
            <a:off x="822960" y="2606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Несколько план-сеток ведутся параллельно, возможны накладки по месту и времени</a:t>
            </a:r>
            <a:endParaRPr lang="en-US" sz="1500" dirty="0"/>
          </a:p>
        </p:txBody>
      </p:sp>
      <p:sp>
        <p:nvSpPr>
          <p:cNvPr id="8" name="Проблема 2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5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Номер проблемы 2"/>
          <p:cNvSpPr txBox="1"/>
          <p:nvPr/>
        </p:nvSpPr>
        <p:spPr>
          <a:xfrm>
            <a:off x="45720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Проблема текст 2"/>
          <p:cNvSpPr txBox="1"/>
          <p:nvPr/>
        </p:nvSpPr>
        <p:spPr>
          <a:xfrm>
            <a:off x="4572000" y="2606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Ошибки подбора мероприятий под возраст и обстоятельства трудно заметить заранее</a:t>
            </a:r>
            <a:endParaRPr lang="en-US" sz="1500" dirty="0"/>
          </a:p>
        </p:txBody>
      </p:sp>
      <p:sp>
        <p:nvSpPr>
          <p:cNvPr id="11" name="Проблема 3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5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Номер проблемы 3"/>
          <p:cNvSpPr txBox="1"/>
          <p:nvPr/>
        </p:nvSpPr>
        <p:spPr>
          <a:xfrm>
            <a:off x="832104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3" name="Проблема текст 3"/>
          <p:cNvSpPr txBox="1"/>
          <p:nvPr/>
        </p:nvSpPr>
        <p:spPr>
          <a:xfrm>
            <a:off x="8321040" y="2606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Администрации сложно следить за планами отрядов и работой вожатых</a:t>
            </a:r>
            <a:endParaRPr lang="en-US" sz="1500" dirty="0"/>
          </a:p>
        </p:txBody>
      </p:sp>
      <p:sp>
        <p:nvSpPr>
          <p:cNvPr id="14" name="Заголовок пользователей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Пользователи и участники</a:t>
            </a:r>
            <a:endParaRPr lang="en-US" sz="1800" dirty="0"/>
          </a:p>
        </p:txBody>
      </p:sp>
      <p:sp>
        <p:nvSpPr>
          <p:cNvPr id="15" name="Пользователь 1"/>
          <p:cNvSpPr/>
          <p:nvPr/>
        </p:nvSpPr>
        <p:spPr>
          <a:xfrm>
            <a:off x="548640" y="4572000"/>
            <a:ext cx="2651760" cy="1645920"/>
          </a:xfrm>
          <a:prstGeom prst="roundRect">
            <a:avLst>
              <a:gd name="adj" fmla="val 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Роль 1"/>
          <p:cNvSpPr txBox="1"/>
          <p:nvPr/>
        </p:nvSpPr>
        <p:spPr>
          <a:xfrm>
            <a:off x="73152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Администрация</a:t>
            </a:r>
            <a:endParaRPr lang="en-US" sz="1500" dirty="0"/>
          </a:p>
        </p:txBody>
      </p:sp>
      <p:sp>
        <p:nvSpPr>
          <p:cNvPr id="17" name="Роль описание 1"/>
          <p:cNvSpPr txBox="1"/>
          <p:nvPr/>
        </p:nvSpPr>
        <p:spPr>
          <a:xfrm>
            <a:off x="731520" y="51937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Задаёт условия, контролирует планы, получает отчёты</a:t>
            </a:r>
            <a:endParaRPr lang="en-US" sz="1400" dirty="0"/>
          </a:p>
        </p:txBody>
      </p:sp>
      <p:sp>
        <p:nvSpPr>
          <p:cNvPr id="18" name="Пользователь 2"/>
          <p:cNvSpPr/>
          <p:nvPr/>
        </p:nvSpPr>
        <p:spPr>
          <a:xfrm>
            <a:off x="3346704" y="4572000"/>
            <a:ext cx="2651760" cy="1645920"/>
          </a:xfrm>
          <a:prstGeom prst="roundRect">
            <a:avLst>
              <a:gd name="adj" fmla="val 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9" name="Роль 2"/>
          <p:cNvSpPr txBox="1"/>
          <p:nvPr/>
        </p:nvSpPr>
        <p:spPr>
          <a:xfrm>
            <a:off x="3529584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Вожатый</a:t>
            </a:r>
            <a:endParaRPr lang="en-US" sz="1500" dirty="0"/>
          </a:p>
        </p:txBody>
      </p:sp>
      <p:sp>
        <p:nvSpPr>
          <p:cNvPr id="20" name="Роль описание 2"/>
          <p:cNvSpPr txBox="1"/>
          <p:nvPr/>
        </p:nvSpPr>
        <p:spPr>
          <a:xfrm>
            <a:off x="3529584" y="51937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Планирует мероприятия отряда, ведёт учёт и график</a:t>
            </a:r>
            <a:endParaRPr lang="en-US" sz="1400" dirty="0"/>
          </a:p>
        </p:txBody>
      </p:sp>
      <p:sp>
        <p:nvSpPr>
          <p:cNvPr id="21" name="Пользователь 3"/>
          <p:cNvSpPr/>
          <p:nvPr/>
        </p:nvSpPr>
        <p:spPr>
          <a:xfrm>
            <a:off x="6144768" y="4572000"/>
            <a:ext cx="2651760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2" name="Роль 3"/>
          <p:cNvSpPr txBox="1"/>
          <p:nvPr/>
        </p:nvSpPr>
        <p:spPr>
          <a:xfrm>
            <a:off x="6327648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Ребёнок</a:t>
            </a:r>
            <a:endParaRPr lang="en-US" sz="1500" dirty="0"/>
          </a:p>
        </p:txBody>
      </p:sp>
      <p:sp>
        <p:nvSpPr>
          <p:cNvPr id="23" name="Роль описание 3"/>
          <p:cNvSpPr txBox="1"/>
          <p:nvPr/>
        </p:nvSpPr>
        <p:spPr>
          <a:xfrm>
            <a:off x="6327648" y="51937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Получает расписание, оставляет отзыв</a:t>
            </a:r>
            <a:endParaRPr lang="en-US" sz="1400" dirty="0"/>
          </a:p>
        </p:txBody>
      </p:sp>
      <p:sp>
        <p:nvSpPr>
          <p:cNvPr id="24" name="Пользователь 4"/>
          <p:cNvSpPr/>
          <p:nvPr/>
        </p:nvSpPr>
        <p:spPr>
          <a:xfrm>
            <a:off x="8942832" y="4572000"/>
            <a:ext cx="2651760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5" name="Роль 4"/>
          <p:cNvSpPr txBox="1"/>
          <p:nvPr/>
        </p:nvSpPr>
        <p:spPr>
          <a:xfrm>
            <a:off x="9125712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Родитель / представитель</a:t>
            </a:r>
            <a:endParaRPr lang="en-US" sz="1500" dirty="0"/>
          </a:p>
        </p:txBody>
      </p:sp>
      <p:sp>
        <p:nvSpPr>
          <p:cNvPr id="26" name="Роль описание 4"/>
          <p:cNvSpPr txBox="1"/>
          <p:nvPr/>
        </p:nvSpPr>
        <p:spPr>
          <a:xfrm>
            <a:off x="9125712" y="519379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Передаёт данные о ребёнке, даёт обратную связь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Постановка"/>
          <p:cNvSpPr/>
          <p:nvPr/>
        </p:nvSpPr>
        <p:spPr>
          <a:xfrm>
            <a:off x="548640" y="347472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Постановка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Цель и задачи проекта</a:t>
            </a:r>
            <a:endParaRPr lang="en-US" sz="2800" dirty="0"/>
          </a:p>
        </p:txBody>
      </p:sp>
      <p:sp>
        <p:nvSpPr>
          <p:cNvPr id="5" name="Карточка цели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Метка цели"/>
          <p:cNvSpPr txBox="1"/>
          <p:nvPr/>
        </p:nvSpPr>
        <p:spPr>
          <a:xfrm>
            <a:off x="8686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ЦЕЛЬ</a:t>
            </a:r>
            <a:endParaRPr lang="en-US" sz="1400" dirty="0"/>
          </a:p>
        </p:txBody>
      </p:sp>
      <p:sp>
        <p:nvSpPr>
          <p:cNvPr id="7" name="Текст цели"/>
          <p:cNvSpPr txBox="1"/>
          <p:nvPr/>
        </p:nvSpPr>
        <p:spPr>
          <a:xfrm>
            <a:off x="868680" y="24688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Спроектировать функциональную модель АИС «</a:t>
            </a:r>
            <a:r>
              <a:rPr lang="ru-RU" sz="2200" b="1" dirty="0">
                <a:solidFill>
                  <a:schemeClr val="tx2"/>
                </a:solidFill>
              </a:rPr>
              <a:t>Планер</a:t>
            </a:r>
            <a:r>
              <a:rPr lang="en-US" sz="2200" b="1" dirty="0">
                <a:solidFill>
                  <a:schemeClr val="tx2"/>
                </a:solidFill>
              </a:rPr>
              <a:t>» для планирования работы вожатого в детском лагере</a:t>
            </a:r>
            <a:endParaRPr lang="en-US" sz="2200" dirty="0"/>
          </a:p>
        </p:txBody>
      </p:sp>
      <p:sp>
        <p:nvSpPr>
          <p:cNvPr id="8" name="Метка задач"/>
          <p:cNvSpPr txBox="1"/>
          <p:nvPr/>
        </p:nvSpPr>
        <p:spPr>
          <a:xfrm>
            <a:off x="51206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ЗАДАЧИ</a:t>
            </a:r>
            <a:endParaRPr lang="en-US" sz="1300" dirty="0"/>
          </a:p>
        </p:txBody>
      </p:sp>
      <p:sp>
        <p:nvSpPr>
          <p:cNvPr id="9" name="Метка слайда"/>
          <p:cNvSpPr txBox="1"/>
          <p:nvPr/>
        </p:nvSpPr>
        <p:spPr>
          <a:xfrm>
            <a:off x="1060704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СЛАЙД</a:t>
            </a:r>
            <a:endParaRPr lang="en-US" sz="1300" dirty="0"/>
          </a:p>
        </p:txBody>
      </p:sp>
      <p:sp>
        <p:nvSpPr>
          <p:cNvPr id="10" name="Строка задачи 1"/>
          <p:cNvSpPr/>
          <p:nvPr/>
        </p:nvSpPr>
        <p:spPr>
          <a:xfrm>
            <a:off x="5120640" y="2011680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Номер задачи 1"/>
          <p:cNvSpPr/>
          <p:nvPr/>
        </p:nvSpPr>
        <p:spPr>
          <a:xfrm>
            <a:off x="5212080" y="206654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Номер задачи 1 текст"/>
          <p:cNvSpPr txBox="1"/>
          <p:nvPr/>
        </p:nvSpPr>
        <p:spPr>
          <a:xfrm>
            <a:off x="521208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Задача 1"/>
          <p:cNvSpPr txBox="1"/>
          <p:nvPr/>
        </p:nvSpPr>
        <p:spPr>
          <a:xfrm>
            <a:off x="5760720" y="201168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Определить назначение ИС</a:t>
            </a:r>
            <a:endParaRPr lang="en-US" sz="1400" dirty="0"/>
          </a:p>
        </p:txBody>
      </p:sp>
      <p:sp>
        <p:nvSpPr>
          <p:cNvPr id="14" name="Слайд задачи 1"/>
          <p:cNvSpPr/>
          <p:nvPr/>
        </p:nvSpPr>
        <p:spPr>
          <a:xfrm>
            <a:off x="10652760" y="2093976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Слайд задачи текст 1"/>
          <p:cNvSpPr txBox="1"/>
          <p:nvPr/>
        </p:nvSpPr>
        <p:spPr>
          <a:xfrm>
            <a:off x="10652760" y="20939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Строка задачи 2"/>
          <p:cNvSpPr/>
          <p:nvPr/>
        </p:nvSpPr>
        <p:spPr>
          <a:xfrm>
            <a:off x="5120640" y="2596896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7" name="Номер задачи 2"/>
          <p:cNvSpPr/>
          <p:nvPr/>
        </p:nvSpPr>
        <p:spPr>
          <a:xfrm>
            <a:off x="5212080" y="26517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Номер задачи 2 текст"/>
          <p:cNvSpPr txBox="1"/>
          <p:nvPr/>
        </p:nvSpPr>
        <p:spPr>
          <a:xfrm>
            <a:off x="521208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Задача 2"/>
          <p:cNvSpPr txBox="1"/>
          <p:nvPr/>
        </p:nvSpPr>
        <p:spPr>
          <a:xfrm>
            <a:off x="5760720" y="25968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Выделить основной процесс и внешние сущности</a:t>
            </a:r>
            <a:endParaRPr lang="en-US" sz="1400" dirty="0"/>
          </a:p>
        </p:txBody>
      </p:sp>
      <p:sp>
        <p:nvSpPr>
          <p:cNvPr id="20" name="Слайд задачи 2"/>
          <p:cNvSpPr/>
          <p:nvPr/>
        </p:nvSpPr>
        <p:spPr>
          <a:xfrm>
            <a:off x="10652760" y="2679192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Слайд задачи текст 2"/>
          <p:cNvSpPr txBox="1"/>
          <p:nvPr/>
        </p:nvSpPr>
        <p:spPr>
          <a:xfrm>
            <a:off x="10652760" y="26791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Строка задачи 3"/>
          <p:cNvSpPr/>
          <p:nvPr/>
        </p:nvSpPr>
        <p:spPr>
          <a:xfrm>
            <a:off x="5120640" y="3182112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Номер задачи 3"/>
          <p:cNvSpPr/>
          <p:nvPr/>
        </p:nvSpPr>
        <p:spPr>
          <a:xfrm>
            <a:off x="5212080" y="323697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Номер задачи 3 текст"/>
          <p:cNvSpPr txBox="1"/>
          <p:nvPr/>
        </p:nvSpPr>
        <p:spPr>
          <a:xfrm>
            <a:off x="52120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Задача 3"/>
          <p:cNvSpPr txBox="1"/>
          <p:nvPr/>
        </p:nvSpPr>
        <p:spPr>
          <a:xfrm>
            <a:off x="5760720" y="31821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Выделить потоки внешних сущностей</a:t>
            </a:r>
            <a:endParaRPr lang="en-US" sz="1400" dirty="0"/>
          </a:p>
        </p:txBody>
      </p:sp>
      <p:sp>
        <p:nvSpPr>
          <p:cNvPr id="26" name="Слайд задачи 3"/>
          <p:cNvSpPr/>
          <p:nvPr/>
        </p:nvSpPr>
        <p:spPr>
          <a:xfrm>
            <a:off x="10652760" y="3264408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Слайд задачи текст 3"/>
          <p:cNvSpPr txBox="1"/>
          <p:nvPr/>
        </p:nvSpPr>
        <p:spPr>
          <a:xfrm>
            <a:off x="10652760" y="32644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7</a:t>
            </a:r>
            <a:endParaRPr lang="en-US" sz="1300" dirty="0"/>
          </a:p>
        </p:txBody>
      </p:sp>
      <p:sp>
        <p:nvSpPr>
          <p:cNvPr id="28" name="Строка задачи 4"/>
          <p:cNvSpPr/>
          <p:nvPr/>
        </p:nvSpPr>
        <p:spPr>
          <a:xfrm>
            <a:off x="5120640" y="3767328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9" name="Номер задачи 4"/>
          <p:cNvSpPr/>
          <p:nvPr/>
        </p:nvSpPr>
        <p:spPr>
          <a:xfrm>
            <a:off x="5212080" y="38221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Номер задачи 4 текст"/>
          <p:cNvSpPr txBox="1"/>
          <p:nvPr/>
        </p:nvSpPr>
        <p:spPr>
          <a:xfrm>
            <a:off x="521208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Задача 4"/>
          <p:cNvSpPr txBox="1"/>
          <p:nvPr/>
        </p:nvSpPr>
        <p:spPr>
          <a:xfrm>
            <a:off x="5760720" y="37673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Построить контекстную диаграмму A-0</a:t>
            </a:r>
            <a:endParaRPr lang="en-US" sz="1400" dirty="0"/>
          </a:p>
        </p:txBody>
      </p:sp>
      <p:sp>
        <p:nvSpPr>
          <p:cNvPr id="32" name="Слайд задачи 4"/>
          <p:cNvSpPr/>
          <p:nvPr/>
        </p:nvSpPr>
        <p:spPr>
          <a:xfrm>
            <a:off x="10652760" y="3849624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Слайд задачи текст 4"/>
          <p:cNvSpPr txBox="1"/>
          <p:nvPr/>
        </p:nvSpPr>
        <p:spPr>
          <a:xfrm>
            <a:off x="10652760" y="38496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8</a:t>
            </a:r>
            <a:endParaRPr lang="en-US" sz="1300" dirty="0"/>
          </a:p>
        </p:txBody>
      </p:sp>
      <p:sp>
        <p:nvSpPr>
          <p:cNvPr id="34" name="Строка задачи 5"/>
          <p:cNvSpPr/>
          <p:nvPr/>
        </p:nvSpPr>
        <p:spPr>
          <a:xfrm>
            <a:off x="5120640" y="4352544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5" name="Номер задачи 5"/>
          <p:cNvSpPr/>
          <p:nvPr/>
        </p:nvSpPr>
        <p:spPr>
          <a:xfrm>
            <a:off x="5212080" y="44074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Номер задачи 5 текст"/>
          <p:cNvSpPr txBox="1"/>
          <p:nvPr/>
        </p:nvSpPr>
        <p:spPr>
          <a:xfrm>
            <a:off x="521208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Задача 5"/>
          <p:cNvSpPr txBox="1"/>
          <p:nvPr/>
        </p:nvSpPr>
        <p:spPr>
          <a:xfrm>
            <a:off x="5760720" y="435254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Проанализировать события, составить матрицу</a:t>
            </a:r>
            <a:endParaRPr lang="en-US" sz="1400" dirty="0"/>
          </a:p>
        </p:txBody>
      </p:sp>
      <p:sp>
        <p:nvSpPr>
          <p:cNvPr id="38" name="Слайд задачи 5"/>
          <p:cNvSpPr/>
          <p:nvPr/>
        </p:nvSpPr>
        <p:spPr>
          <a:xfrm>
            <a:off x="10652760" y="4434840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Слайд задачи текст 5"/>
          <p:cNvSpPr txBox="1"/>
          <p:nvPr/>
        </p:nvSpPr>
        <p:spPr>
          <a:xfrm>
            <a:off x="10652760" y="44348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9</a:t>
            </a:r>
            <a:endParaRPr lang="en-US" sz="1300" dirty="0"/>
          </a:p>
        </p:txBody>
      </p:sp>
      <p:sp>
        <p:nvSpPr>
          <p:cNvPr id="40" name="Строка задачи 6"/>
          <p:cNvSpPr/>
          <p:nvPr/>
        </p:nvSpPr>
        <p:spPr>
          <a:xfrm>
            <a:off x="5120640" y="4937760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1" name="Номер задачи 6"/>
          <p:cNvSpPr/>
          <p:nvPr/>
        </p:nvSpPr>
        <p:spPr>
          <a:xfrm>
            <a:off x="5212080" y="499262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Номер задачи 6 текст"/>
          <p:cNvSpPr txBox="1"/>
          <p:nvPr/>
        </p:nvSpPr>
        <p:spPr>
          <a:xfrm>
            <a:off x="5212080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Задача 6"/>
          <p:cNvSpPr txBox="1"/>
          <p:nvPr/>
        </p:nvSpPr>
        <p:spPr>
          <a:xfrm>
            <a:off x="5760720" y="493776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Построить детализированную диаграмму A0</a:t>
            </a:r>
            <a:endParaRPr lang="en-US" sz="1400" dirty="0"/>
          </a:p>
        </p:txBody>
      </p:sp>
      <p:sp>
        <p:nvSpPr>
          <p:cNvPr id="44" name="Слайд задачи 6"/>
          <p:cNvSpPr/>
          <p:nvPr/>
        </p:nvSpPr>
        <p:spPr>
          <a:xfrm>
            <a:off x="10652760" y="5020056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Слайд задачи текст 6"/>
          <p:cNvSpPr txBox="1"/>
          <p:nvPr/>
        </p:nvSpPr>
        <p:spPr>
          <a:xfrm>
            <a:off x="10652760" y="50200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10–11</a:t>
            </a:r>
            <a:endParaRPr lang="en-US" sz="1300" dirty="0"/>
          </a:p>
        </p:txBody>
      </p:sp>
      <p:sp>
        <p:nvSpPr>
          <p:cNvPr id="46" name="Строка задачи 7"/>
          <p:cNvSpPr/>
          <p:nvPr/>
        </p:nvSpPr>
        <p:spPr>
          <a:xfrm>
            <a:off x="5120640" y="5522976"/>
            <a:ext cx="6492240" cy="512064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7" name="Номер задачи 7"/>
          <p:cNvSpPr/>
          <p:nvPr/>
        </p:nvSpPr>
        <p:spPr>
          <a:xfrm>
            <a:off x="5212080" y="55778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Номер задачи 7 текст"/>
          <p:cNvSpPr txBox="1"/>
          <p:nvPr/>
        </p:nvSpPr>
        <p:spPr>
          <a:xfrm>
            <a:off x="5212080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Задача 7"/>
          <p:cNvSpPr txBox="1"/>
          <p:nvPr/>
        </p:nvSpPr>
        <p:spPr>
          <a:xfrm>
            <a:off x="5760720" y="552297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Детализировать процесс A2 (A2.1–A2.4)</a:t>
            </a:r>
            <a:endParaRPr lang="en-US" sz="1400" dirty="0"/>
          </a:p>
        </p:txBody>
      </p:sp>
      <p:sp>
        <p:nvSpPr>
          <p:cNvPr id="50" name="Слайд задачи 7"/>
          <p:cNvSpPr/>
          <p:nvPr/>
        </p:nvSpPr>
        <p:spPr>
          <a:xfrm>
            <a:off x="10652760" y="5605272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Слайд задачи текст 7"/>
          <p:cNvSpPr txBox="1"/>
          <p:nvPr/>
        </p:nvSpPr>
        <p:spPr>
          <a:xfrm>
            <a:off x="10652760" y="56052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12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Постановка"/>
          <p:cNvSpPr/>
          <p:nvPr/>
        </p:nvSpPr>
        <p:spPr>
          <a:xfrm>
            <a:off x="548640" y="347472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Постановка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Методы и средства выполнения проекта</a:t>
            </a:r>
            <a:endParaRPr lang="en-US" sz="2800" dirty="0"/>
          </a:p>
        </p:txBody>
      </p:sp>
      <p:sp>
        <p:nvSpPr>
          <p:cNvPr id="5" name="Карточка метода 1"/>
          <p:cNvSpPr/>
          <p:nvPr/>
        </p:nvSpPr>
        <p:spPr>
          <a:xfrm>
            <a:off x="548640" y="1691640"/>
            <a:ext cx="3566160" cy="2651760"/>
          </a:xfrm>
          <a:prstGeom prst="roundRect">
            <a:avLst>
              <a:gd name="adj" fmla="val 48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Иконка метода 1 фон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Иконка метода 1" descr="Иконка метод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6" cy="273406"/>
          </a:xfrm>
          <a:prstGeom prst="rect">
            <a:avLst/>
          </a:prstGeom>
        </p:spPr>
      </p:pic>
      <p:sp>
        <p:nvSpPr>
          <p:cNvPr id="8" name="Метка метода 1"/>
          <p:cNvSpPr txBox="1"/>
          <p:nvPr/>
        </p:nvSpPr>
        <p:spPr>
          <a:xfrm>
            <a:off x="155448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МЕТОДОЛОГИЯ</a:t>
            </a:r>
            <a:endParaRPr lang="en-US" sz="1300" dirty="0"/>
          </a:p>
        </p:txBody>
      </p:sp>
      <p:sp>
        <p:nvSpPr>
          <p:cNvPr id="9" name="Название метода 1"/>
          <p:cNvSpPr txBox="1"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DFD — диаграммы потоков данных</a:t>
            </a:r>
            <a:endParaRPr lang="en-US" sz="1700" dirty="0"/>
          </a:p>
        </p:txBody>
      </p:sp>
      <p:sp>
        <p:nvSpPr>
          <p:cNvPr id="10" name="Описание метода 1"/>
          <p:cNvSpPr txBox="1"/>
          <p:nvPr/>
        </p:nvSpPr>
        <p:spPr>
          <a:xfrm>
            <a:off x="82296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Процессы, потоки, хранилища и внешние сущности; иерархия A-0 → A0 → A2</a:t>
            </a:r>
            <a:endParaRPr lang="en-US" sz="1400" dirty="0"/>
          </a:p>
        </p:txBody>
      </p:sp>
      <p:sp>
        <p:nvSpPr>
          <p:cNvPr id="11" name="Карточка метода 2"/>
          <p:cNvSpPr/>
          <p:nvPr/>
        </p:nvSpPr>
        <p:spPr>
          <a:xfrm>
            <a:off x="4297680" y="1691640"/>
            <a:ext cx="3566160" cy="2651760"/>
          </a:xfrm>
          <a:prstGeom prst="roundRect">
            <a:avLst>
              <a:gd name="adj" fmla="val 48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Иконка метода 2 фон"/>
          <p:cNvSpPr/>
          <p:nvPr/>
        </p:nvSpPr>
        <p:spPr>
          <a:xfrm>
            <a:off x="457200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Иконка метода 2" descr="Иконка метода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477" y="2080717"/>
            <a:ext cx="273406" cy="273406"/>
          </a:xfrm>
          <a:prstGeom prst="rect">
            <a:avLst/>
          </a:prstGeom>
        </p:spPr>
      </p:pic>
      <p:sp>
        <p:nvSpPr>
          <p:cNvPr id="14" name="Метка метода 2"/>
          <p:cNvSpPr txBox="1"/>
          <p:nvPr/>
        </p:nvSpPr>
        <p:spPr>
          <a:xfrm>
            <a:off x="53035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CASE-СРЕДСТВО</a:t>
            </a:r>
            <a:endParaRPr lang="en-US" sz="1300" dirty="0"/>
          </a:p>
        </p:txBody>
      </p:sp>
      <p:sp>
        <p:nvSpPr>
          <p:cNvPr id="15" name="Название метода 2"/>
          <p:cNvSpPr txBox="1"/>
          <p:nvPr/>
        </p:nvSpPr>
        <p:spPr>
          <a:xfrm>
            <a:off x="45720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Visual Paradigm Online</a:t>
            </a:r>
            <a:endParaRPr lang="en-US" sz="1700" dirty="0"/>
          </a:p>
        </p:txBody>
      </p:sp>
      <p:sp>
        <p:nvSpPr>
          <p:cNvPr id="16" name="Описание метода 2"/>
          <p:cNvSpPr txBox="1"/>
          <p:nvPr/>
        </p:nvSpPr>
        <p:spPr>
          <a:xfrm>
            <a:off x="457200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Аналог CA ERwin Process Modeler из задания; схемы выгружены в PDF</a:t>
            </a:r>
            <a:endParaRPr lang="en-US" sz="1400" dirty="0"/>
          </a:p>
        </p:txBody>
      </p:sp>
      <p:sp>
        <p:nvSpPr>
          <p:cNvPr id="17" name="Карточка метода 3"/>
          <p:cNvSpPr/>
          <p:nvPr/>
        </p:nvSpPr>
        <p:spPr>
          <a:xfrm>
            <a:off x="8046720" y="1691640"/>
            <a:ext cx="3566160" cy="2651760"/>
          </a:xfrm>
          <a:prstGeom prst="roundRect">
            <a:avLst>
              <a:gd name="adj" fmla="val 48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Иконка метода 3 фон"/>
          <p:cNvSpPr/>
          <p:nvPr/>
        </p:nvSpPr>
        <p:spPr>
          <a:xfrm>
            <a:off x="83210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Иконка метода 3" descr="Иконка метода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517" y="2080717"/>
            <a:ext cx="273406" cy="273406"/>
          </a:xfrm>
          <a:prstGeom prst="rect">
            <a:avLst/>
          </a:prstGeom>
        </p:spPr>
      </p:pic>
      <p:sp>
        <p:nvSpPr>
          <p:cNvPr id="20" name="Метка метода 3"/>
          <p:cNvSpPr txBox="1"/>
          <p:nvPr/>
        </p:nvSpPr>
        <p:spPr>
          <a:xfrm>
            <a:off x="905256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ИСТОЧНИКИ</a:t>
            </a:r>
            <a:endParaRPr lang="en-US" sz="1300" dirty="0"/>
          </a:p>
        </p:txBody>
      </p:sp>
      <p:sp>
        <p:nvSpPr>
          <p:cNvPr id="21" name="Название метода 3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Описание варианта 5</a:t>
            </a:r>
            <a:endParaRPr lang="en-US" sz="1700" dirty="0"/>
          </a:p>
        </p:txBody>
      </p:sp>
      <p:sp>
        <p:nvSpPr>
          <p:cNvPr id="22" name="Описание метода 3"/>
          <p:cNvSpPr txBox="1"/>
          <p:nvPr/>
        </p:nvSpPr>
        <p:spPr>
          <a:xfrm>
            <a:off x="832104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Требования лабораторной работы и рекомендации по построению DFD</a:t>
            </a:r>
            <a:endParaRPr lang="en-US" sz="1400" dirty="0"/>
          </a:p>
        </p:txBody>
      </p:sp>
      <p:sp>
        <p:nvSpPr>
          <p:cNvPr id="23" name="Правила построения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4" name="Заголовок правил"/>
          <p:cNvSpPr txBox="1"/>
          <p:nvPr/>
        </p:nvSpPr>
        <p:spPr>
          <a:xfrm>
            <a:off x="822960" y="4681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Правила построения диаграмм</a:t>
            </a:r>
            <a:endParaRPr lang="en-US" sz="1700" dirty="0"/>
          </a:p>
        </p:txBody>
      </p:sp>
      <p:sp>
        <p:nvSpPr>
          <p:cNvPr id="25" name="Правила 1"/>
          <p:cNvSpPr txBox="1"/>
          <p:nvPr/>
        </p:nvSpPr>
        <p:spPr>
          <a:xfrm>
            <a:off x="82296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От 2 до 6 процессов на диаграмме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Имена процессов — глаголы</a:t>
            </a:r>
            <a:endParaRPr lang="en-US" sz="1500" dirty="0"/>
          </a:p>
        </p:txBody>
      </p:sp>
      <p:sp>
        <p:nvSpPr>
          <p:cNvPr id="26" name="Правила 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У хранилища есть вход и выход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Нет связей между внешними сущностями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ы 1–2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Этапы 1–2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Назначение ИС и внешние сущности</a:t>
            </a:r>
            <a:endParaRPr lang="en-US" sz="2800" dirty="0"/>
          </a:p>
        </p:txBody>
      </p:sp>
      <p:sp>
        <p:nvSpPr>
          <p:cNvPr id="5" name="Карточка назначения"/>
          <p:cNvSpPr/>
          <p:nvPr/>
        </p:nvSpPr>
        <p:spPr>
          <a:xfrm>
            <a:off x="548640" y="1691640"/>
            <a:ext cx="3931920" cy="4434840"/>
          </a:xfrm>
          <a:prstGeom prst="roundRect">
            <a:avLst>
              <a:gd name="adj" fmla="val 32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Заголовок назначения"/>
          <p:cNvSpPr txBox="1"/>
          <p:nvPr/>
        </p:nvSpPr>
        <p:spPr>
          <a:xfrm>
            <a:off x="8686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Назначение ИС</a:t>
            </a:r>
            <a:endParaRPr lang="en-US" sz="1900" dirty="0"/>
          </a:p>
        </p:txBody>
      </p:sp>
      <p:sp>
        <p:nvSpPr>
          <p:cNvPr id="7" name="Назначение"/>
          <p:cNvSpPr txBox="1"/>
          <p:nvPr/>
        </p:nvSpPr>
        <p:spPr>
          <a:xfrm>
            <a:off x="868680" y="251460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Централизованно планировать досуг детей на смене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Контролировать план: ошибки и конфликты по месту и времени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Учитывать фактическое проведение и отзывы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Управлять графиками вожатых и отчётностью</a:t>
            </a:r>
            <a:endParaRPr lang="en-US" sz="1500" dirty="0"/>
          </a:p>
        </p:txBody>
      </p:sp>
      <p:sp>
        <p:nvSpPr>
          <p:cNvPr id="8" name="Основной процесс"/>
          <p:cNvSpPr/>
          <p:nvPr/>
        </p:nvSpPr>
        <p:spPr>
          <a:xfrm>
            <a:off x="4846320" y="1691640"/>
            <a:ext cx="6766560" cy="1143000"/>
          </a:xfrm>
          <a:prstGeom prst="roundRect">
            <a:avLst>
              <a:gd name="adj" fmla="val 112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Основной процесс текст"/>
          <p:cNvSpPr txBox="1"/>
          <p:nvPr/>
        </p:nvSpPr>
        <p:spPr>
          <a:xfrm>
            <a:off x="5166360" y="169164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ОСНОВНОЙ ПРОЦЕСС A-0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Систематизировать планирование работы вожатого</a:t>
            </a:r>
            <a:endParaRPr lang="en-US" sz="1200" dirty="0"/>
          </a:p>
        </p:txBody>
      </p:sp>
      <p:sp>
        <p:nvSpPr>
          <p:cNvPr id="10" name="Сущность E1"/>
          <p:cNvSpPr/>
          <p:nvPr/>
        </p:nvSpPr>
        <p:spPr>
          <a:xfrm>
            <a:off x="4846320" y="3063240"/>
            <a:ext cx="324612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Метка E1"/>
          <p:cNvSpPr/>
          <p:nvPr/>
        </p:nvSpPr>
        <p:spPr>
          <a:xfrm>
            <a:off x="502920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Метка E1 текст"/>
          <p:cNvSpPr txBox="1"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E1</a:t>
            </a:r>
            <a:endParaRPr lang="en-US" sz="1300" dirty="0"/>
          </a:p>
        </p:txBody>
      </p:sp>
      <p:sp>
        <p:nvSpPr>
          <p:cNvPr id="13" name="Название E1"/>
          <p:cNvSpPr txBox="1"/>
          <p:nvPr/>
        </p:nvSpPr>
        <p:spPr>
          <a:xfrm>
            <a:off x="562356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Администрация лагеря</a:t>
            </a:r>
            <a:endParaRPr lang="en-US" sz="1400" dirty="0"/>
          </a:p>
        </p:txBody>
      </p:sp>
      <p:sp>
        <p:nvSpPr>
          <p:cNvPr id="14" name="Роль E1"/>
          <p:cNvSpPr txBox="1"/>
          <p:nvPr/>
        </p:nvSpPr>
        <p:spPr>
          <a:xfrm>
            <a:off x="502920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Задаёт условия, контролирует, получает отчёты</a:t>
            </a:r>
            <a:endParaRPr lang="en-US" sz="1400" dirty="0"/>
          </a:p>
        </p:txBody>
      </p:sp>
      <p:sp>
        <p:nvSpPr>
          <p:cNvPr id="15" name="Сущность E2"/>
          <p:cNvSpPr/>
          <p:nvPr/>
        </p:nvSpPr>
        <p:spPr>
          <a:xfrm>
            <a:off x="8366760" y="3063240"/>
            <a:ext cx="324612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Метка E2"/>
          <p:cNvSpPr/>
          <p:nvPr/>
        </p:nvSpPr>
        <p:spPr>
          <a:xfrm>
            <a:off x="8549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Метка E2 текст"/>
          <p:cNvSpPr txBox="1"/>
          <p:nvPr/>
        </p:nvSpPr>
        <p:spPr>
          <a:xfrm>
            <a:off x="8549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E2</a:t>
            </a:r>
            <a:endParaRPr lang="en-US" sz="1300" dirty="0"/>
          </a:p>
        </p:txBody>
      </p:sp>
      <p:sp>
        <p:nvSpPr>
          <p:cNvPr id="18" name="Название E2"/>
          <p:cNvSpPr txBox="1"/>
          <p:nvPr/>
        </p:nvSpPr>
        <p:spPr>
          <a:xfrm>
            <a:off x="91440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Вожатый</a:t>
            </a:r>
            <a:endParaRPr lang="en-US" sz="1400" dirty="0"/>
          </a:p>
        </p:txBody>
      </p:sp>
      <p:sp>
        <p:nvSpPr>
          <p:cNvPr id="19" name="Роль E2"/>
          <p:cNvSpPr txBox="1"/>
          <p:nvPr/>
        </p:nvSpPr>
        <p:spPr>
          <a:xfrm>
            <a:off x="854964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Планирует, вводит данные, отчитывается</a:t>
            </a:r>
            <a:endParaRPr lang="en-US" sz="1400" dirty="0"/>
          </a:p>
        </p:txBody>
      </p:sp>
      <p:sp>
        <p:nvSpPr>
          <p:cNvPr id="20" name="Сущность E3"/>
          <p:cNvSpPr/>
          <p:nvPr/>
        </p:nvSpPr>
        <p:spPr>
          <a:xfrm>
            <a:off x="4846320" y="4663440"/>
            <a:ext cx="324612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Метка E3"/>
          <p:cNvSpPr/>
          <p:nvPr/>
        </p:nvSpPr>
        <p:spPr>
          <a:xfrm>
            <a:off x="5029200" y="4800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Метка E3 текст"/>
          <p:cNvSpPr txBox="1"/>
          <p:nvPr/>
        </p:nvSpPr>
        <p:spPr>
          <a:xfrm>
            <a:off x="50292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E3</a:t>
            </a:r>
            <a:endParaRPr lang="en-US" sz="1300" dirty="0"/>
          </a:p>
        </p:txBody>
      </p:sp>
      <p:sp>
        <p:nvSpPr>
          <p:cNvPr id="23" name="Название E3"/>
          <p:cNvSpPr txBox="1"/>
          <p:nvPr/>
        </p:nvSpPr>
        <p:spPr>
          <a:xfrm>
            <a:off x="5623560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Ребёнок</a:t>
            </a:r>
            <a:endParaRPr lang="en-US" sz="1400" dirty="0"/>
          </a:p>
        </p:txBody>
      </p:sp>
      <p:sp>
        <p:nvSpPr>
          <p:cNvPr id="24" name="Роль E3"/>
          <p:cNvSpPr txBox="1"/>
          <p:nvPr/>
        </p:nvSpPr>
        <p:spPr>
          <a:xfrm>
            <a:off x="5029200" y="5394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Получает расписание, оставляет отзыв</a:t>
            </a:r>
            <a:endParaRPr lang="en-US" sz="1400" dirty="0"/>
          </a:p>
        </p:txBody>
      </p:sp>
      <p:sp>
        <p:nvSpPr>
          <p:cNvPr id="25" name="Сущность E4"/>
          <p:cNvSpPr/>
          <p:nvPr/>
        </p:nvSpPr>
        <p:spPr>
          <a:xfrm>
            <a:off x="8366760" y="4663440"/>
            <a:ext cx="324612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6" name="Метка E4"/>
          <p:cNvSpPr/>
          <p:nvPr/>
        </p:nvSpPr>
        <p:spPr>
          <a:xfrm>
            <a:off x="8549640" y="4800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Метка E4 текст"/>
          <p:cNvSpPr txBox="1"/>
          <p:nvPr/>
        </p:nvSpPr>
        <p:spPr>
          <a:xfrm>
            <a:off x="8549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E4</a:t>
            </a:r>
            <a:endParaRPr lang="en-US" sz="1300" dirty="0"/>
          </a:p>
        </p:txBody>
      </p:sp>
      <p:sp>
        <p:nvSpPr>
          <p:cNvPr id="28" name="Название E4"/>
          <p:cNvSpPr txBox="1"/>
          <p:nvPr/>
        </p:nvSpPr>
        <p:spPr>
          <a:xfrm>
            <a:off x="9144000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Родитель / представитель</a:t>
            </a:r>
            <a:endParaRPr lang="en-US" sz="1400" dirty="0"/>
          </a:p>
        </p:txBody>
      </p:sp>
      <p:sp>
        <p:nvSpPr>
          <p:cNvPr id="29" name="Роль E4"/>
          <p:cNvSpPr txBox="1"/>
          <p:nvPr/>
        </p:nvSpPr>
        <p:spPr>
          <a:xfrm>
            <a:off x="8549640" y="5394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Сообщает данные о ребёнке, даёт обратную связь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3"/>
          <p:cNvSpPr/>
          <p:nvPr/>
        </p:nvSpPr>
        <p:spPr>
          <a:xfrm>
            <a:off x="54864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3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Потоки внешних сущностей</a:t>
            </a:r>
            <a:endParaRPr lang="en-US" sz="2800" dirty="0"/>
          </a:p>
        </p:txBody>
      </p:sp>
      <p:graphicFrame>
        <p:nvGraphicFramePr>
          <p:cNvPr id="8" name="Таблица поток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Сущность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В систему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Из системы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</a:rPr>
                        <a:t>E1 Администрация лагеря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Исходные данные и условия планирования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Запросы на отчёты и контроль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Плановые данные и предупреждения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Рабочие графики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Отчёты и сведения о работе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</a:rPr>
                        <a:t>E2 Вожатый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Данные об отряде и мероприятиях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Данные о фактическом проведении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Данные о графике и особые сообщения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Данные об отряде и детях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Рабочий график и отчёт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Планирование и рекомендации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</a:rPr>
                        <a:t>E3 Ребёнок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Отзыв о мероприятии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Запрос на отзыв о мероприятии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Расписание мероприятий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</a:rPr>
                        <a:t>E4 Родитель / представитель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Обратная связь от родителя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Данные о ребёнке и его особенностях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Запрос на обратную связь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Итог по потокам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Всего 17 внешних потоков: 9 </a:t>
            </a:r>
            <a:r>
              <a:rPr lang="en-US" sz="1700" b="1" dirty="0" err="1">
                <a:solidFill>
                  <a:schemeClr val="accent1"/>
                </a:solidFill>
              </a:rPr>
              <a:t>вход</a:t>
            </a:r>
            <a:r>
              <a:rPr lang="ru-RU" sz="1700" b="1" dirty="0" err="1">
                <a:solidFill>
                  <a:schemeClr val="accent1"/>
                </a:solidFill>
              </a:rPr>
              <a:t>ящих</a:t>
            </a:r>
            <a:r>
              <a:rPr lang="en-US" sz="1700" b="1" dirty="0">
                <a:solidFill>
                  <a:schemeClr val="accent1"/>
                </a:solidFill>
              </a:rPr>
              <a:t> и </a:t>
            </a:r>
            <a:r>
              <a:rPr lang="ru-RU" sz="1700" b="1" dirty="0">
                <a:solidFill>
                  <a:schemeClr val="accent1"/>
                </a:solidFill>
              </a:rPr>
              <a:t>8</a:t>
            </a:r>
            <a:r>
              <a:rPr lang="en-US" sz="1700" b="1" dirty="0">
                <a:solidFill>
                  <a:schemeClr val="accent1"/>
                </a:solidFill>
              </a:rPr>
              <a:t> </a:t>
            </a:r>
            <a:r>
              <a:rPr lang="ru-RU" sz="1700" b="1" dirty="0">
                <a:solidFill>
                  <a:schemeClr val="accent1"/>
                </a:solidFill>
              </a:rPr>
              <a:t>исходящих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4"/>
          <p:cNvSpPr/>
          <p:nvPr/>
        </p:nvSpPr>
        <p:spPr>
          <a:xfrm>
            <a:off x="909828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909828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4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9098280" y="822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Контекстная диаграмма A-0</a:t>
            </a:r>
            <a:endParaRPr lang="en-US" sz="2200" dirty="0"/>
          </a:p>
        </p:txBody>
      </p:sp>
      <p:sp>
        <p:nvSpPr>
          <p:cNvPr id="5" name="Подложка диаграммы"/>
          <p:cNvSpPr/>
          <p:nvPr/>
        </p:nvSpPr>
        <p:spPr>
          <a:xfrm>
            <a:off x="182880" y="990489"/>
            <a:ext cx="8503920" cy="4694142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6" name="Диаграмма Этап 4" descr="Диаграмма: Контекстная диаграмма A-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81929"/>
            <a:ext cx="8321040" cy="4511262"/>
          </a:xfrm>
          <a:prstGeom prst="rect">
            <a:avLst/>
          </a:prstGeom>
        </p:spPr>
      </p:pic>
      <p:sp>
        <p:nvSpPr>
          <p:cNvPr id="7" name="Тезисы диаграммы"/>
          <p:cNvSpPr txBox="1"/>
          <p:nvPr/>
        </p:nvSpPr>
        <p:spPr>
          <a:xfrm>
            <a:off x="9098280" y="246888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Один процесс — вся система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 внешние сущности: E1–E4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17 потоков данных на границе системы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5"/>
          <p:cNvSpPr/>
          <p:nvPr/>
        </p:nvSpPr>
        <p:spPr>
          <a:xfrm>
            <a:off x="54864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5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Матрица списка событий</a:t>
            </a:r>
            <a:endParaRPr lang="en-US" sz="2800" dirty="0"/>
          </a:p>
        </p:txBody>
      </p:sp>
      <p:graphicFrame>
        <p:nvGraphicFramePr>
          <p:cNvPr id="10" name="Матрица событий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77926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№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Событие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Источник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Реакция системы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Администрация задала условия планирования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E1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A2 Формировать план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D2 План мероприятий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Переданы данные об отряде и детях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E2, E4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A1 Вести данные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D1 Данные об отрядах и детях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Вожатый планирует мероприятия отряда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A2 Формировать план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D2; расписание → E3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План сформирован и требует контроля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A3 Контролировать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Предупреждения → A2, E1; согласованный план → D2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Мероприятие проведено или отменено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A4 Учитывать проведение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D3 Данные о проведении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Получены отзыв ребёнка и обратная связь родителя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E3, E4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A4 Учитывать проведение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D3 Данные о проведении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Передан график и особые сообщения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A6 Управлять графиками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D5; графики → E1, E2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Администрация запросила отчёты (планёрка)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E1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A5 Формировать отчёты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D4; отчёты → E1</a:t>
                      </a:r>
                      <a:endParaRPr lang="en-US" sz="1400" dirty="0"/>
                    </a:p>
                  </a:txBody>
                  <a:tcPr marL="73152" marR="73152" marT="64008" marB="64008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6"/>
          <p:cNvSpPr/>
          <p:nvPr/>
        </p:nvSpPr>
        <p:spPr>
          <a:xfrm>
            <a:off x="54864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6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Процессы и </a:t>
            </a:r>
            <a:r>
              <a:rPr lang="ru-RU" sz="2800" b="1" dirty="0">
                <a:solidFill>
                  <a:schemeClr val="tx1"/>
                </a:solidFill>
              </a:rPr>
              <a:t>хранилища</a:t>
            </a:r>
            <a:r>
              <a:rPr lang="en-US" sz="2800" b="1" dirty="0">
                <a:solidFill>
                  <a:schemeClr val="tx1"/>
                </a:solidFill>
              </a:rPr>
              <a:t> данных уровня A0</a:t>
            </a:r>
            <a:endParaRPr lang="en-US" sz="2800" dirty="0"/>
          </a:p>
        </p:txBody>
      </p:sp>
      <p:sp>
        <p:nvSpPr>
          <p:cNvPr id="5" name="Заголовок процессов"/>
          <p:cNvSpPr txBox="1"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Процессы</a:t>
            </a:r>
            <a:endParaRPr lang="en-US" sz="1700" dirty="0"/>
          </a:p>
        </p:txBody>
      </p:sp>
      <p:sp>
        <p:nvSpPr>
          <p:cNvPr id="6" name="Строка процесса 1"/>
          <p:cNvSpPr/>
          <p:nvPr/>
        </p:nvSpPr>
        <p:spPr>
          <a:xfrm>
            <a:off x="548640" y="205740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7" name="Метка A1"/>
          <p:cNvSpPr/>
          <p:nvPr/>
        </p:nvSpPr>
        <p:spPr>
          <a:xfrm>
            <a:off x="621792" y="21305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Метка A1 текст"/>
          <p:cNvSpPr txBox="1"/>
          <p:nvPr/>
        </p:nvSpPr>
        <p:spPr>
          <a:xfrm>
            <a:off x="621792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A1</a:t>
            </a:r>
            <a:endParaRPr lang="en-US" sz="1200" dirty="0"/>
          </a:p>
        </p:txBody>
      </p:sp>
      <p:sp>
        <p:nvSpPr>
          <p:cNvPr id="9" name="Процесс A1"/>
          <p:cNvSpPr txBox="1"/>
          <p:nvPr/>
        </p:nvSpPr>
        <p:spPr>
          <a:xfrm>
            <a:off x="1188720" y="2057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Вести данные об отрядах и детях</a:t>
            </a:r>
            <a:endParaRPr lang="en-US" sz="1300" dirty="0"/>
          </a:p>
        </p:txBody>
      </p:sp>
      <p:sp>
        <p:nvSpPr>
          <p:cNvPr id="10" name="Строка процесса 2"/>
          <p:cNvSpPr/>
          <p:nvPr/>
        </p:nvSpPr>
        <p:spPr>
          <a:xfrm>
            <a:off x="548640" y="269748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Метка A2"/>
          <p:cNvSpPr/>
          <p:nvPr/>
        </p:nvSpPr>
        <p:spPr>
          <a:xfrm>
            <a:off x="621792" y="27706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Метка A2 текст"/>
          <p:cNvSpPr txBox="1"/>
          <p:nvPr/>
        </p:nvSpPr>
        <p:spPr>
          <a:xfrm>
            <a:off x="62179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A2</a:t>
            </a:r>
            <a:endParaRPr lang="en-US" sz="1200" dirty="0"/>
          </a:p>
        </p:txBody>
      </p:sp>
      <p:sp>
        <p:nvSpPr>
          <p:cNvPr id="13" name="Процесс A2"/>
          <p:cNvSpPr txBox="1"/>
          <p:nvPr/>
        </p:nvSpPr>
        <p:spPr>
          <a:xfrm>
            <a:off x="1188720" y="2697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Формировать план мероприятий</a:t>
            </a:r>
            <a:endParaRPr lang="en-US" sz="1300" dirty="0"/>
          </a:p>
        </p:txBody>
      </p:sp>
      <p:sp>
        <p:nvSpPr>
          <p:cNvPr id="14" name="Строка процесса 3"/>
          <p:cNvSpPr/>
          <p:nvPr/>
        </p:nvSpPr>
        <p:spPr>
          <a:xfrm>
            <a:off x="548640" y="333756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5" name="Метка A3"/>
          <p:cNvSpPr/>
          <p:nvPr/>
        </p:nvSpPr>
        <p:spPr>
          <a:xfrm>
            <a:off x="621792" y="34107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Метка A3 текст"/>
          <p:cNvSpPr txBox="1"/>
          <p:nvPr/>
        </p:nvSpPr>
        <p:spPr>
          <a:xfrm>
            <a:off x="621792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A3</a:t>
            </a:r>
            <a:endParaRPr lang="en-US" sz="1200" dirty="0"/>
          </a:p>
        </p:txBody>
      </p:sp>
      <p:sp>
        <p:nvSpPr>
          <p:cNvPr id="17" name="Процесс A3"/>
          <p:cNvSpPr txBox="1"/>
          <p:nvPr/>
        </p:nvSpPr>
        <p:spPr>
          <a:xfrm>
            <a:off x="1188720" y="3337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Контролировать планирование и согласовывать мероприятия</a:t>
            </a:r>
            <a:endParaRPr lang="en-US" sz="1300" dirty="0"/>
          </a:p>
        </p:txBody>
      </p:sp>
      <p:sp>
        <p:nvSpPr>
          <p:cNvPr id="18" name="Строка процесса 4"/>
          <p:cNvSpPr/>
          <p:nvPr/>
        </p:nvSpPr>
        <p:spPr>
          <a:xfrm>
            <a:off x="548640" y="397764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9" name="Метка A4"/>
          <p:cNvSpPr/>
          <p:nvPr/>
        </p:nvSpPr>
        <p:spPr>
          <a:xfrm>
            <a:off x="621792" y="40507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Метка A4 текст"/>
          <p:cNvSpPr txBox="1"/>
          <p:nvPr/>
        </p:nvSpPr>
        <p:spPr>
          <a:xfrm>
            <a:off x="621792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A4</a:t>
            </a:r>
            <a:endParaRPr lang="en-US" sz="1200" dirty="0"/>
          </a:p>
        </p:txBody>
      </p:sp>
      <p:sp>
        <p:nvSpPr>
          <p:cNvPr id="21" name="Процесс A4"/>
          <p:cNvSpPr txBox="1"/>
          <p:nvPr/>
        </p:nvSpPr>
        <p:spPr>
          <a:xfrm>
            <a:off x="1188720" y="39776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Учитывать фактическое проведение мероприятий</a:t>
            </a:r>
            <a:endParaRPr lang="en-US" sz="1300" dirty="0"/>
          </a:p>
        </p:txBody>
      </p:sp>
      <p:sp>
        <p:nvSpPr>
          <p:cNvPr id="22" name="Строка процесса 5"/>
          <p:cNvSpPr/>
          <p:nvPr/>
        </p:nvSpPr>
        <p:spPr>
          <a:xfrm>
            <a:off x="548640" y="461772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Метка A5"/>
          <p:cNvSpPr/>
          <p:nvPr/>
        </p:nvSpPr>
        <p:spPr>
          <a:xfrm>
            <a:off x="621792" y="4690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Метка A5 текст"/>
          <p:cNvSpPr txBox="1"/>
          <p:nvPr/>
        </p:nvSpPr>
        <p:spPr>
          <a:xfrm>
            <a:off x="62179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A5</a:t>
            </a:r>
            <a:endParaRPr lang="en-US" sz="1200" dirty="0"/>
          </a:p>
        </p:txBody>
      </p:sp>
      <p:sp>
        <p:nvSpPr>
          <p:cNvPr id="25" name="Процесс A5"/>
          <p:cNvSpPr txBox="1"/>
          <p:nvPr/>
        </p:nvSpPr>
        <p:spPr>
          <a:xfrm>
            <a:off x="1188720" y="46177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Формировать отчёты и сведения</a:t>
            </a:r>
            <a:endParaRPr lang="en-US" sz="1300" dirty="0"/>
          </a:p>
        </p:txBody>
      </p:sp>
      <p:sp>
        <p:nvSpPr>
          <p:cNvPr id="26" name="Строка процесса 6"/>
          <p:cNvSpPr/>
          <p:nvPr/>
        </p:nvSpPr>
        <p:spPr>
          <a:xfrm>
            <a:off x="548640" y="5257800"/>
            <a:ext cx="5212080" cy="566928"/>
          </a:xfrm>
          <a:prstGeom prst="roundRect">
            <a:avLst>
              <a:gd name="adj" fmla="val 2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7" name="Метка A6"/>
          <p:cNvSpPr/>
          <p:nvPr/>
        </p:nvSpPr>
        <p:spPr>
          <a:xfrm>
            <a:off x="621792" y="53309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Метка A6 текст"/>
          <p:cNvSpPr txBox="1"/>
          <p:nvPr/>
        </p:nvSpPr>
        <p:spPr>
          <a:xfrm>
            <a:off x="621792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A6</a:t>
            </a:r>
            <a:endParaRPr lang="en-US" sz="1200" dirty="0"/>
          </a:p>
        </p:txBody>
      </p:sp>
      <p:sp>
        <p:nvSpPr>
          <p:cNvPr id="29" name="Процесс A6"/>
          <p:cNvSpPr txBox="1"/>
          <p:nvPr/>
        </p:nvSpPr>
        <p:spPr>
          <a:xfrm>
            <a:off x="1188720" y="5257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Управлять рабочими графиками</a:t>
            </a:r>
            <a:endParaRPr lang="en-US" sz="1300" dirty="0"/>
          </a:p>
        </p:txBody>
      </p:sp>
      <p:sp>
        <p:nvSpPr>
          <p:cNvPr id="30" name="Заголовок накопителей"/>
          <p:cNvSpPr txBox="1"/>
          <p:nvPr/>
        </p:nvSpPr>
        <p:spPr>
          <a:xfrm>
            <a:off x="60350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Хранилища</a:t>
            </a:r>
            <a:r>
              <a:rPr lang="en-US" sz="1700" b="1" dirty="0">
                <a:solidFill>
                  <a:schemeClr val="accent1"/>
                </a:solidFill>
              </a:rPr>
              <a:t> данных</a:t>
            </a:r>
            <a:endParaRPr lang="en-US" sz="1700" dirty="0"/>
          </a:p>
        </p:txBody>
      </p:sp>
      <p:graphicFrame>
        <p:nvGraphicFramePr>
          <p:cNvPr id="31" name="Накопители данных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057400"/>
          <a:ext cx="5577840" cy="34442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Код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Хранилище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Содержание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0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D1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Данные об отрядах и детях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Состав отрядов, дети, особенности, данные родителей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D2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План мероприятий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План-сетки отрядов: время, место, мероприятия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D3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Данные о проведении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Статус, участники, причины отмены, отзывы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D4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Отчёты и сведения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Сформированные отчёты и выписки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</a:rPr>
                        <a:t>D5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Рабочие графики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Графики работы и выходных вожатых</a:t>
                      </a:r>
                      <a:endParaRPr lang="en-US" sz="1400" dirty="0"/>
                    </a:p>
                  </a:txBody>
                  <a:tcPr marL="73152" marR="73152" marT="91440" marB="91440" anchor="ctr">
                    <a:lnL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6"/>
          <p:cNvSpPr/>
          <p:nvPr/>
        </p:nvSpPr>
        <p:spPr>
          <a:xfrm>
            <a:off x="909828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909828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6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9098280" y="822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Диаграмма A0</a:t>
            </a:r>
            <a:endParaRPr lang="en-US" sz="2200" dirty="0"/>
          </a:p>
        </p:txBody>
      </p:sp>
      <p:sp>
        <p:nvSpPr>
          <p:cNvPr id="5" name="Подложка диаграммы"/>
          <p:cNvSpPr/>
          <p:nvPr/>
        </p:nvSpPr>
        <p:spPr>
          <a:xfrm>
            <a:off x="190037" y="182880"/>
            <a:ext cx="8718206" cy="64922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6" name="Диаграмма Этап 6" descr="Диаграмма: Диаграмма A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77" y="274320"/>
            <a:ext cx="8535326" cy="6309360"/>
          </a:xfrm>
          <a:prstGeom prst="rect">
            <a:avLst/>
          </a:prstGeom>
        </p:spPr>
      </p:pic>
      <p:sp>
        <p:nvSpPr>
          <p:cNvPr id="7" name="Тезисы диаграммы"/>
          <p:cNvSpPr txBox="1"/>
          <p:nvPr/>
        </p:nvSpPr>
        <p:spPr>
          <a:xfrm>
            <a:off x="9098280" y="246888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процессов A1–A6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хранилищ данных D1–D5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Те же 4 внешние сущности и 17 внешних потоков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Цикл A2 ↔ A3: план, проверка, доработка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Этап 7"/>
          <p:cNvSpPr/>
          <p:nvPr/>
        </p:nvSpPr>
        <p:spPr>
          <a:xfrm>
            <a:off x="9098280" y="347472"/>
            <a:ext cx="107899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9098280" y="347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Этап 7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9098280" y="822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Детализация процесса A2</a:t>
            </a:r>
            <a:endParaRPr lang="en-US" sz="2200" dirty="0"/>
          </a:p>
        </p:txBody>
      </p:sp>
      <p:sp>
        <p:nvSpPr>
          <p:cNvPr id="5" name="Подложка диаграммы"/>
          <p:cNvSpPr/>
          <p:nvPr/>
        </p:nvSpPr>
        <p:spPr>
          <a:xfrm>
            <a:off x="383283" y="182880"/>
            <a:ext cx="8331714" cy="64922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6" name="Диаграмма Этап 7" descr="Диаграмма: Детализация процесса A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3" y="274320"/>
            <a:ext cx="8148834" cy="6309360"/>
          </a:xfrm>
          <a:prstGeom prst="rect">
            <a:avLst/>
          </a:prstGeom>
        </p:spPr>
      </p:pic>
      <p:sp>
        <p:nvSpPr>
          <p:cNvPr id="7" name="Тезисы диаграммы"/>
          <p:cNvSpPr txBox="1"/>
          <p:nvPr/>
        </p:nvSpPr>
        <p:spPr>
          <a:xfrm>
            <a:off x="9098280" y="246888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A2.1 Подготавливать данные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A2.2 Формировать мероприятия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A2.3 Составлять план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A2.4 Сохранять план в D2</a:t>
            </a:r>
            <a:endParaRPr lang="en-US" sz="1500" dirty="0"/>
          </a:p>
        </p:txBody>
      </p:sp>
      <p:sp>
        <p:nvSpPr>
          <p:cNvPr id="8" name="Пояснение"/>
          <p:cNvSpPr txBox="1"/>
          <p:nvPr/>
        </p:nvSpPr>
        <p:spPr>
          <a:xfrm>
            <a:off x="9098280" y="5577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Внешние потоки процесса A2 сохранены на нижнем уровне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Проверка"/>
          <p:cNvSpPr/>
          <p:nvPr/>
        </p:nvSpPr>
        <p:spPr>
          <a:xfrm>
            <a:off x="548640" y="347472"/>
            <a:ext cx="1271016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Метка текст"/>
          <p:cNvSpPr txBox="1"/>
          <p:nvPr/>
        </p:nvSpPr>
        <p:spPr>
          <a:xfrm>
            <a:off x="548640" y="34747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Проверка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Проверка модели по правилам DFD</a:t>
            </a:r>
            <a:endParaRPr lang="en-US" sz="2800" dirty="0"/>
          </a:p>
        </p:txBody>
      </p:sp>
      <p:sp>
        <p:nvSpPr>
          <p:cNvPr id="5" name="Проверка 1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Галочка 1 фон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Галочка 1" descr="Галочк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068373"/>
            <a:ext cx="252374" cy="252374"/>
          </a:xfrm>
          <a:prstGeom prst="rect">
            <a:avLst/>
          </a:prstGeom>
        </p:spPr>
      </p:pic>
      <p:sp>
        <p:nvSpPr>
          <p:cNvPr id="8" name="Заголовок проверки 1"/>
          <p:cNvSpPr txBox="1"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От 2 до 6 процессов</a:t>
            </a:r>
            <a:endParaRPr lang="en-US" sz="1600" dirty="0"/>
          </a:p>
        </p:txBody>
      </p:sp>
      <p:sp>
        <p:nvSpPr>
          <p:cNvPr id="9" name="Описание проверки 1"/>
          <p:cNvSpPr txBox="1"/>
          <p:nvPr/>
        </p:nvSpPr>
        <p:spPr>
          <a:xfrm>
            <a:off x="822960" y="3172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На A0 — шесть процессов, на A2 — четыре</a:t>
            </a:r>
            <a:endParaRPr lang="en-US" sz="1300" dirty="0"/>
          </a:p>
        </p:txBody>
      </p:sp>
      <p:sp>
        <p:nvSpPr>
          <p:cNvPr id="10" name="Проверка 2"/>
          <p:cNvSpPr/>
          <p:nvPr/>
        </p:nvSpPr>
        <p:spPr>
          <a:xfrm>
            <a:off x="4297680" y="1691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1" name="Галочка 2 фон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Галочка 2" descr="Галочк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133" y="2068373"/>
            <a:ext cx="252374" cy="252374"/>
          </a:xfrm>
          <a:prstGeom prst="rect">
            <a:avLst/>
          </a:prstGeom>
        </p:spPr>
      </p:pic>
      <p:sp>
        <p:nvSpPr>
          <p:cNvPr id="13" name="Заголовок проверки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Понятные имена</a:t>
            </a:r>
            <a:endParaRPr lang="en-US" sz="1600" dirty="0"/>
          </a:p>
        </p:txBody>
      </p:sp>
      <p:sp>
        <p:nvSpPr>
          <p:cNvPr id="14" name="Описание проверки 2"/>
          <p:cNvSpPr txBox="1"/>
          <p:nvPr/>
        </p:nvSpPr>
        <p:spPr>
          <a:xfrm>
            <a:off x="4572000" y="3172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Процессы названы глаголами, потоки — данными и документами</a:t>
            </a:r>
            <a:endParaRPr lang="en-US" sz="1300" dirty="0"/>
          </a:p>
        </p:txBody>
      </p:sp>
      <p:sp>
        <p:nvSpPr>
          <p:cNvPr id="15" name="Проверка 3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6" name="Галочка 3 фон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Галочка 3" descr="Галочк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068373"/>
            <a:ext cx="252374" cy="252374"/>
          </a:xfrm>
          <a:prstGeom prst="rect">
            <a:avLst/>
          </a:prstGeom>
        </p:spPr>
      </p:pic>
      <p:sp>
        <p:nvSpPr>
          <p:cNvPr id="18" name="Заголовок проверки 3"/>
          <p:cNvSpPr txBox="1"/>
          <p:nvPr/>
        </p:nvSpPr>
        <p:spPr>
          <a:xfrm>
            <a:off x="832104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Нет связей между сущностями</a:t>
            </a:r>
            <a:endParaRPr lang="en-US" sz="1600" dirty="0"/>
          </a:p>
        </p:txBody>
      </p:sp>
      <p:sp>
        <p:nvSpPr>
          <p:cNvPr id="19" name="Описание проверки 3"/>
          <p:cNvSpPr txBox="1"/>
          <p:nvPr/>
        </p:nvSpPr>
        <p:spPr>
          <a:xfrm>
            <a:off x="8321040" y="3172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Внешние сущности общаются только с системой, не друг с другом</a:t>
            </a:r>
            <a:endParaRPr lang="en-US" sz="1300" dirty="0"/>
          </a:p>
        </p:txBody>
      </p:sp>
      <p:sp>
        <p:nvSpPr>
          <p:cNvPr id="20" name="Проверка 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Галочка 4 фон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Галочка 4" descr="Галочк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4354373"/>
            <a:ext cx="252374" cy="252374"/>
          </a:xfrm>
          <a:prstGeom prst="rect">
            <a:avLst/>
          </a:prstGeom>
        </p:spPr>
      </p:pic>
      <p:sp>
        <p:nvSpPr>
          <p:cNvPr id="23" name="Заголовок проверки 4"/>
          <p:cNvSpPr txBox="1"/>
          <p:nvPr/>
        </p:nvSpPr>
        <p:spPr>
          <a:xfrm>
            <a:off x="82296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У хранилищ есть вход и выход</a:t>
            </a:r>
            <a:endParaRPr lang="en-US" sz="1600" dirty="0"/>
          </a:p>
        </p:txBody>
      </p:sp>
      <p:sp>
        <p:nvSpPr>
          <p:cNvPr id="24" name="Описание проверки 4"/>
          <p:cNvSpPr txBox="1"/>
          <p:nvPr/>
        </p:nvSpPr>
        <p:spPr>
          <a:xfrm>
            <a:off x="822960" y="5458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D1–D5 наполняются одним процессом и читаются им же или другим</a:t>
            </a:r>
            <a:endParaRPr lang="en-US" sz="1300" dirty="0"/>
          </a:p>
        </p:txBody>
      </p:sp>
      <p:sp>
        <p:nvSpPr>
          <p:cNvPr id="25" name="Проверка 5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6" name="Галочка 5 фон"/>
          <p:cNvSpPr/>
          <p:nvPr/>
        </p:nvSpPr>
        <p:spPr>
          <a:xfrm>
            <a:off x="4572000" y="4206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Галочка 5" descr="Галочк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133" y="4354373"/>
            <a:ext cx="252374" cy="252374"/>
          </a:xfrm>
          <a:prstGeom prst="rect">
            <a:avLst/>
          </a:prstGeom>
        </p:spPr>
      </p:pic>
      <p:sp>
        <p:nvSpPr>
          <p:cNvPr id="28" name="Заголовок проверки 5"/>
          <p:cNvSpPr txBox="1"/>
          <p:nvPr/>
        </p:nvSpPr>
        <p:spPr>
          <a:xfrm>
            <a:off x="457200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Нет изолированных объектов</a:t>
            </a:r>
            <a:endParaRPr lang="en-US" sz="1600" dirty="0"/>
          </a:p>
        </p:txBody>
      </p:sp>
      <p:sp>
        <p:nvSpPr>
          <p:cNvPr id="29" name="Описание проверки 5"/>
          <p:cNvSpPr txBox="1"/>
          <p:nvPr/>
        </p:nvSpPr>
        <p:spPr>
          <a:xfrm>
            <a:off x="4572000" y="5458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Каждый процесс, хранилище и сущность связаны потоками</a:t>
            </a:r>
            <a:endParaRPr lang="en-US" sz="1300" dirty="0"/>
          </a:p>
        </p:txBody>
      </p:sp>
      <p:sp>
        <p:nvSpPr>
          <p:cNvPr id="30" name="Проверка 6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1" name="Галочка 6 фон"/>
          <p:cNvSpPr/>
          <p:nvPr/>
        </p:nvSpPr>
        <p:spPr>
          <a:xfrm>
            <a:off x="8321040" y="4206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Галочка 6" descr="Галочк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4354373"/>
            <a:ext cx="252374" cy="252374"/>
          </a:xfrm>
          <a:prstGeom prst="rect">
            <a:avLst/>
          </a:prstGeom>
        </p:spPr>
      </p:pic>
      <p:sp>
        <p:nvSpPr>
          <p:cNvPr id="33" name="Заголовок проверки 6"/>
          <p:cNvSpPr txBox="1"/>
          <p:nvPr/>
        </p:nvSpPr>
        <p:spPr>
          <a:xfrm>
            <a:off x="83210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Согласованность уровней</a:t>
            </a:r>
            <a:endParaRPr lang="en-US" sz="1600" dirty="0"/>
          </a:p>
        </p:txBody>
      </p:sp>
      <p:sp>
        <p:nvSpPr>
          <p:cNvPr id="34" name="Описание проверки 6"/>
          <p:cNvSpPr txBox="1"/>
          <p:nvPr/>
        </p:nvSpPr>
        <p:spPr>
          <a:xfrm>
            <a:off x="8321040" y="5458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Потоки A-0 → A0 → A2 сохраняются при декомпозиции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Номер вывода 1 текст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Вывод 1"/>
          <p:cNvSpPr txBox="1"/>
          <p:nvPr/>
        </p:nvSpPr>
        <p:spPr>
          <a:xfrm>
            <a:off x="1371600" y="1691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Построена иерархическая DFD-модель АИС «</a:t>
            </a:r>
            <a:r>
              <a:rPr lang="ru-RU" sz="1700" dirty="0">
                <a:solidFill>
                  <a:schemeClr val="tx1"/>
                </a:solidFill>
              </a:rPr>
              <a:t>Планер</a:t>
            </a:r>
            <a:r>
              <a:rPr lang="en-US" sz="1700" dirty="0">
                <a:solidFill>
                  <a:schemeClr val="tx1"/>
                </a:solidFill>
              </a:rPr>
              <a:t>»: A-0, A0 (6 процессов, 5 хранилищ) и детализация A2 (4 подпроцесса)</a:t>
            </a:r>
            <a:endParaRPr lang="en-US" sz="1700" dirty="0"/>
          </a:p>
        </p:txBody>
      </p:sp>
      <p:sp>
        <p:nvSpPr>
          <p:cNvPr id="6" name="Номер вывода 2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Номер вывода 2 текст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Вывод 2"/>
          <p:cNvSpPr txBox="1"/>
          <p:nvPr/>
        </p:nvSpPr>
        <p:spPr>
          <a:xfrm>
            <a:off x="1371600" y="2606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Модель покрывает все функции из описания: планирование, контроль конфликтов, учёт проведения, обратную связь, графики и отчёты</a:t>
            </a:r>
            <a:endParaRPr lang="en-US" sz="1700" dirty="0"/>
          </a:p>
        </p:txBody>
      </p:sp>
      <p:sp>
        <p:nvSpPr>
          <p:cNvPr id="9" name="Номер вывода 3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Номер вывода 3 текст"/>
          <p:cNvSpPr txBox="1"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Вывод 3"/>
          <p:cNvSpPr txBox="1"/>
          <p:nvPr/>
        </p:nvSpPr>
        <p:spPr>
          <a:xfrm>
            <a:off x="1371600" y="35204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Определены 4 внешние сущности, 17 внешних потоков и 8 событий, на которые реагирует система</a:t>
            </a:r>
            <a:endParaRPr lang="en-US" sz="1700" dirty="0"/>
          </a:p>
        </p:txBody>
      </p:sp>
      <p:sp>
        <p:nvSpPr>
          <p:cNvPr id="12" name="Номер вывода 4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Номер вывода 4 текст"/>
          <p:cNvSpPr txBox="1"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Вывод 4"/>
          <p:cNvSpPr txBox="1"/>
          <p:nvPr/>
        </p:nvSpPr>
        <p:spPr>
          <a:xfrm>
            <a:off x="1371600" y="44348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Контроль плана вынесен в отдельный процесс A3, что отделяет проверку от составления плана</a:t>
            </a:r>
            <a:endParaRPr lang="en-US" sz="1700" dirty="0"/>
          </a:p>
        </p:txBody>
      </p:sp>
      <p:sp>
        <p:nvSpPr>
          <p:cNvPr id="15" name="Номер вывода 5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Номер вывода 5 текст"/>
          <p:cNvSpPr txBox="1"/>
          <p:nvPr/>
        </p:nvSpPr>
        <p:spPr>
          <a:xfrm>
            <a:off x="5486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Вывод 5"/>
          <p:cNvSpPr txBox="1"/>
          <p:nvPr/>
        </p:nvSpPr>
        <p:spPr>
          <a:xfrm>
            <a:off x="1371600" y="53492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Модель — основа для следующего этапа: проектирования данных (D1–D5) и интерфейсов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агодарность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Спасибо за внимание!</a:t>
            </a:r>
            <a:endParaRPr lang="en-US" sz="4400" dirty="0"/>
          </a:p>
        </p:txBody>
      </p:sp>
      <p:sp>
        <p:nvSpPr>
          <p:cNvPr id="3" name="Автор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Борзова Дарья Максимовна, группа К3240 · команда «Декомпозиция»</a:t>
            </a:r>
            <a:endParaRPr lang="en-US" sz="1800" dirty="0"/>
          </a:p>
        </p:txBody>
      </p:sp>
      <p:pic>
        <p:nvPicPr>
          <p:cNvPr id="4" name="Логотип ИТМО" descr="Логотип Университета ИТМ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37760"/>
            <a:ext cx="3017520" cy="11307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MO Night">
  <a:themeElements>
    <a:clrScheme name="ITMO Night">
      <a:dk1>
        <a:srgbClr val="FFFFFF"/>
      </a:dk1>
      <a:lt1>
        <a:srgbClr val="141414"/>
      </a:lt1>
      <a:dk2>
        <a:srgbClr val="111111"/>
      </a:dk2>
      <a:lt2>
        <a:srgbClr val="242424"/>
      </a:lt2>
      <a:accent1>
        <a:srgbClr val="00CEFF"/>
      </a:accent1>
      <a:accent2>
        <a:srgbClr val="9307FE"/>
      </a:accent2>
      <a:accent3>
        <a:srgbClr val="FE3D36"/>
      </a:accent3>
      <a:accent4>
        <a:srgbClr val="FFFFFF"/>
      </a:accent4>
      <a:accent5>
        <a:srgbClr val="9A9A9A"/>
      </a:accent5>
      <a:accent6>
        <a:srgbClr val="2E2E2E"/>
      </a:accent6>
      <a:hlink>
        <a:srgbClr val="00CEFF"/>
      </a:hlink>
      <a:folHlink>
        <a:srgbClr val="9A9A9A"/>
      </a:folHlink>
    </a:clrScheme>
    <a:fontScheme name="ITMO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2165</Words>
  <Application>Microsoft Office PowerPoint</Application>
  <PresentationFormat>Широкоэкранный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ITMO Night</vt:lpstr>
      <vt:lpstr>Презентация PowerPoint</vt:lpstr>
      <vt:lpstr>Как устроено планирование смены в лагере</vt:lpstr>
      <vt:lpstr>Проблемы и пользователи системы</vt:lpstr>
      <vt:lpstr>Цель и задачи проекта</vt:lpstr>
      <vt:lpstr>Методы и средства выполнения проекта</vt:lpstr>
      <vt:lpstr>Назначение ИС и внешние сущности</vt:lpstr>
      <vt:lpstr>Потоки внешних сущностей</vt:lpstr>
      <vt:lpstr>Контекстная диаграмма A-0</vt:lpstr>
      <vt:lpstr>Матрица списка событий</vt:lpstr>
      <vt:lpstr>Процессы и хранилища данных уровня A0</vt:lpstr>
      <vt:lpstr>Диаграмма A0</vt:lpstr>
      <vt:lpstr>Детализация процесса A2</vt:lpstr>
      <vt:lpstr>Проверка модели по правилам DFD</vt:lpstr>
      <vt:lpstr>Выводы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функциональной модели АИС «СменаПлан»</dc:title>
  <dc:subject>PptxGenJS Presentation</dc:subject>
  <dc:creator>Борзова Дарья Максимовна</dc:creator>
  <cp:lastModifiedBy>Дарья Борзова</cp:lastModifiedBy>
  <cp:revision>5</cp:revision>
  <dcterms:created xsi:type="dcterms:W3CDTF">2026-10-09T05:16:59Z</dcterms:created>
  <dcterms:modified xsi:type="dcterms:W3CDTF">2026-10-09T05:31:44Z</dcterms:modified>
</cp:coreProperties>
</file>